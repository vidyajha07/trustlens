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Concept deck based on the supplied problem statement. No external sources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Problem and goal framing. Examples derive from the supplied challenge description.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Judge explanation: TrustLens receives transaction data and available user context. Its engine learns the user's normal behaviour, checks whether the unusual activity has a valid explanation, assigns risk, and chooses the appropriate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system architecture repurposes the user's supplied four-layer routing concept for financial transactions.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Workflow diagram. Designed as an editable native-slide diagram.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Illustrative user journey. The amount and scenario are hypothetical, not performance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Proposed technologies for the ideation-stage prototype. Replace any item with the team’s final implementation choice.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Team roles assigned by the user.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43A83A9-A0C4-44B0-97E3-E409FFC84D46}"/>
              </a:ext>
            </a:extLst>
          </p:cNvPr>
          <p:cNvSpPr>
            <a:spLocks noGrp="1"/>
          </p:cNvSpPr>
          <p:nvPr/>
        </p:nvSpPr>
        <p:spPr>
          <a:xfrm>
            <a:off x="723900" y="685800"/>
            <a:ext cx="2667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350" b="1">
                <a:solidFill>
                  <a:srgbClr val="36C7E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6C7E6"/>
                </a:solidFill>
                <a:latin typeface="Aptos"/>
                <a:ea typeface="Aptos"/>
                <a:cs typeface="Aptos"/>
              </a:rPr>
              <a:t>TRUSTLENS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2076FC4-484C-4CD6-A5A8-637E4092B31C}"/>
              </a:ext>
            </a:extLst>
          </p:cNvPr>
          <p:cNvSpPr>
            <a:spLocks noGrp="1"/>
          </p:cNvSpPr>
          <p:nvPr/>
        </p:nvSpPr>
        <p:spPr>
          <a:xfrm>
            <a:off x="723900" y="1285875"/>
            <a:ext cx="6381750" cy="1524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Context-aware</a:t>
            </a:r>
          </a:p>
          <a:p>
            <a:pPr>
              <a:defRPr sz="3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transaction safety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4DCA06B-803F-4DBB-82FB-C981DDC0B5A5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3810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825"/>
          </a:bodyPr>
          <a:lstStyle/>
          <a:p>
            <a:pPr>
              <a:defRPr sz="1575" b="0">
                <a:solidFill>
                  <a:srgbClr val="C8DBE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C8DBEF"/>
                </a:solidFill>
                <a:latin typeface="Aptos"/>
                <a:ea typeface="Aptos"/>
                <a:cs typeface="Aptos"/>
              </a:rPr>
              <a:t>A hackathon ideation pitch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8B8A6F-8FD9-4548-B704-820B135C4A2E}"/>
              </a:ext>
            </a:extLst>
          </p:cNvPr>
          <p:cNvSpPr>
            <a:spLocks noGrp="1"/>
          </p:cNvSpPr>
          <p:nvPr/>
        </p:nvSpPr>
        <p:spPr>
          <a:xfrm>
            <a:off x="762000" y="4038600"/>
            <a:ext cx="61912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500"/>
          </a:bodyPr>
          <a:lstStyle/>
          <a:p>
            <a:pPr>
              <a:defRPr sz="1800" b="0">
                <a:solidFill>
                  <a:srgbClr val="49D6A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9D6AE"/>
                </a:solidFill>
                <a:latin typeface="Aptos"/>
                <a:ea typeface="Aptos"/>
                <a:cs typeface="Aptos"/>
              </a:rPr>
              <a:t>Unusual activity needs an explanation before it needs an alarm.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B777D1E-706C-49AB-B813-3513A42F46A8}"/>
              </a:ext>
            </a:extLst>
          </p:cNvPr>
          <p:cNvSpPr>
            <a:spLocks noGrp="1"/>
          </p:cNvSpPr>
          <p:nvPr/>
        </p:nvSpPr>
        <p:spPr>
          <a:xfrm>
            <a:off x="8629650" y="1590675"/>
            <a:ext cx="1714500" cy="1714500"/>
          </a:xfrm>
          <a:prstGeom prst="ellipse">
            <a:avLst/>
          </a:prstGeom>
          <a:solidFill>
            <a:srgbClr val="1D65D6"/>
          </a:solidFill>
          <a:ln w="0">
            <a:noFill/>
          </a:ln>
        </p:spPr>
        <p:txBody>
          <a:bodyPr anchor="ctr">
            <a:normAutofit/>
          </a:bodyPr>
          <a:lstStyle/>
          <a:p>
            <a:pPr>
              <a:defRPr sz="5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₹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F2BEA2B-F354-4E9D-B228-FA673C56D70E}"/>
              </a:ext>
            </a:extLst>
          </p:cNvPr>
          <p:cNvSpPr>
            <a:spLocks noGrp="1"/>
          </p:cNvSpPr>
          <p:nvPr/>
        </p:nvSpPr>
        <p:spPr>
          <a:xfrm>
            <a:off x="8210550" y="3714750"/>
            <a:ext cx="1143000" cy="361950"/>
          </a:xfrm>
          <a:prstGeom prst="roundRect">
            <a:avLst>
              <a:gd name="adj" fmla="val 21053"/>
            </a:avLst>
          </a:prstGeom>
          <a:solidFill>
            <a:srgbClr val="173A5C"/>
          </a:solidFill>
          <a:ln w="0">
            <a:noFill/>
          </a:ln>
        </p:spPr>
        <p:txBody>
          <a:bodyPr anchor="ctr">
            <a:norm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Pattern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0B64509-FA67-43E2-81ED-6F7944CD159F}"/>
              </a:ext>
            </a:extLst>
          </p:cNvPr>
          <p:cNvSpPr>
            <a:spLocks noGrp="1"/>
          </p:cNvSpPr>
          <p:nvPr/>
        </p:nvSpPr>
        <p:spPr>
          <a:xfrm>
            <a:off x="9525000" y="3714750"/>
            <a:ext cx="1238250" cy="361950"/>
          </a:xfrm>
          <a:prstGeom prst="roundRect">
            <a:avLst>
              <a:gd name="adj" fmla="val 21053"/>
            </a:avLst>
          </a:prstGeom>
          <a:solidFill>
            <a:srgbClr val="173A5C"/>
          </a:solidFill>
          <a:ln w="0">
            <a:noFill/>
          </a:ln>
        </p:spPr>
        <p:txBody>
          <a:bodyPr anchor="ctr">
            <a:norm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Context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C96504F-A3DC-4754-BBC6-9A488A733B19}"/>
              </a:ext>
            </a:extLst>
          </p:cNvPr>
          <p:cNvSpPr>
            <a:spLocks noGrp="1"/>
          </p:cNvSpPr>
          <p:nvPr/>
        </p:nvSpPr>
        <p:spPr>
          <a:xfrm>
            <a:off x="8829675" y="4305300"/>
            <a:ext cx="1238250" cy="361950"/>
          </a:xfrm>
          <a:prstGeom prst="roundRect">
            <a:avLst>
              <a:gd name="adj" fmla="val 21053"/>
            </a:avLst>
          </a:prstGeom>
          <a:solidFill>
            <a:srgbClr val="49D6AE"/>
          </a:solidFill>
          <a:ln w="0">
            <a:noFill/>
          </a:ln>
        </p:spPr>
        <p:txBody>
          <a:bodyPr anchor="ctr">
            <a:normAutofit/>
          </a:bodyPr>
          <a:lstStyle/>
          <a:p>
            <a:pPr>
              <a:defRPr sz="1200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Action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2A0CB98F-5773-407C-AA06-7D8CCD9DDA12}"/>
              </a:ext>
            </a:extLst>
          </p:cNvPr>
          <p:cNvSpPr>
            <a:spLocks noGrp="1"/>
          </p:cNvSpPr>
          <p:nvPr/>
        </p:nvSpPr>
        <p:spPr>
          <a:xfrm>
            <a:off x="8782050" y="3305175"/>
            <a:ext cx="438150" cy="400050"/>
          </a:xfrm>
          <a:prstGeom prst="line">
            <a:avLst/>
          </a:prstGeom>
          <a:ln w="28575">
            <a:solidFill>
              <a:srgbClr val="6DDCF1"/>
            </a:solidFill>
          </a:ln>
        </p:spPr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991A9D5B-41FA-49B6-8890-77C09208C3BC}"/>
              </a:ext>
            </a:extLst>
          </p:cNvPr>
          <p:cNvSpPr>
            <a:spLocks noGrp="1"/>
          </p:cNvSpPr>
          <p:nvPr/>
        </p:nvSpPr>
        <p:spPr>
          <a:xfrm>
            <a:off x="9648825" y="3305175"/>
            <a:ext cx="476250" cy="400050"/>
          </a:xfrm>
          <a:prstGeom prst="line">
            <a:avLst/>
          </a:prstGeom>
          <a:ln w="28575">
            <a:solidFill>
              <a:srgbClr val="6DDCF1"/>
            </a:solidFill>
          </a:ln>
        </p:spPr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A25524AF-08F6-4A19-B982-8E0097542FA0}"/>
              </a:ext>
            </a:extLst>
          </p:cNvPr>
          <p:cNvSpPr>
            <a:spLocks noGrp="1"/>
          </p:cNvSpPr>
          <p:nvPr/>
        </p:nvSpPr>
        <p:spPr>
          <a:xfrm>
            <a:off x="8782050" y="4076700"/>
            <a:ext cx="561975" cy="219075"/>
          </a:xfrm>
          <a:prstGeom prst="line">
            <a:avLst/>
          </a:prstGeom>
          <a:ln w="28575">
            <a:solidFill>
              <a:srgbClr val="6DDCF1"/>
            </a:solidFill>
          </a:ln>
        </p:spPr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126B1213-A6F0-4532-9950-461DFD05FD94}"/>
              </a:ext>
            </a:extLst>
          </p:cNvPr>
          <p:cNvSpPr>
            <a:spLocks noGrp="1"/>
          </p:cNvSpPr>
          <p:nvPr/>
        </p:nvSpPr>
        <p:spPr>
          <a:xfrm>
            <a:off x="9553575" y="4076700"/>
            <a:ext cx="561975" cy="219075"/>
          </a:xfrm>
          <a:prstGeom prst="line">
            <a:avLst/>
          </a:prstGeom>
          <a:ln w="28575">
            <a:solidFill>
              <a:srgbClr val="6DDCF1"/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990AEC6-2C3A-41CC-919D-F248A5EAEDD2}"/>
              </a:ext>
            </a:extLst>
          </p:cNvPr>
          <p:cNvSpPr>
            <a:spLocks noGrp="1"/>
          </p:cNvSpPr>
          <p:nvPr/>
        </p:nvSpPr>
        <p:spPr>
          <a:xfrm>
            <a:off x="723900" y="6153150"/>
            <a:ext cx="3429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308"/>
          </a:bodyPr>
          <a:lstStyle/>
          <a:p>
            <a:pPr>
              <a:defRPr sz="975" b="0">
                <a:solidFill>
                  <a:srgbClr val="9DB7D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DB7D1"/>
                </a:solidFill>
                <a:latin typeface="Aptos"/>
                <a:ea typeface="Aptos"/>
                <a:cs typeface="Aptos"/>
              </a:rPr>
              <a:t>Ideation Pitch · 2026</a:t>
            </a:r>
          </a:p>
        </p:txBody>
      </p:sp>
    </p:spTree>
    <p:extLst>
      <p:ext uri="{BB962C8B-B14F-4D97-AF65-F5344CB8AC3E}">
        <p14:creationId xmlns:p14="http://schemas.microsoft.com/office/powerpoint/2010/main" val="7091815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BECC1BC3-85B5-48DD-BF77-4DD378A595B8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5524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125" b="1">
                <a:solidFill>
                  <a:srgbClr val="36C7E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6C7E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B0CFC00-8742-4DBF-AC2B-A7D523CAD5C0}"/>
              </a:ext>
            </a:extLst>
          </p:cNvPr>
          <p:cNvSpPr>
            <a:spLocks noGrp="1"/>
          </p:cNvSpPr>
          <p:nvPr/>
        </p:nvSpPr>
        <p:spPr>
          <a:xfrm>
            <a:off x="685800" y="866775"/>
            <a:ext cx="100012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6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Goals &amp; problem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E94651-1596-485A-845E-A69AD639E72F}"/>
              </a:ext>
            </a:extLst>
          </p:cNvPr>
          <p:cNvSpPr>
            <a:spLocks noGrp="1"/>
          </p:cNvSpPr>
          <p:nvPr/>
        </p:nvSpPr>
        <p:spPr>
          <a:xfrm>
            <a:off x="685800" y="1466850"/>
            <a:ext cx="91440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75" b="0">
                <a:solidFill>
                  <a:srgbClr val="5C738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C7389"/>
                </a:solidFill>
                <a:latin typeface="Aptos"/>
                <a:ea typeface="Aptos"/>
                <a:cs typeface="Aptos"/>
              </a:rPr>
              <a:t>A transaction can look suspicious and still be completely legitimate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6726F9BD-7BAD-4B25-A836-A2DDEEDAA56D}"/>
              </a:ext>
            </a:extLst>
          </p:cNvPr>
          <p:cNvSpPr>
            <a:spLocks noGrp="1"/>
          </p:cNvSpPr>
          <p:nvPr/>
        </p:nvSpPr>
        <p:spPr>
          <a:xfrm>
            <a:off x="685800" y="1971675"/>
            <a:ext cx="10820400" cy="0"/>
          </a:xfrm>
          <a:prstGeom prst="line">
            <a:avLst/>
          </a:prstGeom>
          <a:ln w="9525">
            <a:solidFill>
              <a:srgbClr val="D5E5F2"/>
            </a:solidFill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5A8850-524C-49A2-AC94-599C4872F4EE}"/>
              </a:ext>
            </a:extLst>
          </p:cNvPr>
          <p:cNvSpPr>
            <a:spLocks noGrp="1"/>
          </p:cNvSpPr>
          <p:nvPr/>
        </p:nvSpPr>
        <p:spPr>
          <a:xfrm>
            <a:off x="685800" y="2400300"/>
            <a:ext cx="20002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050" b="1">
                <a:solidFill>
                  <a:srgbClr val="1D65D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65D6"/>
                </a:solidFill>
                <a:latin typeface="Aptos"/>
                <a:ea typeface="Aptos"/>
                <a:cs typeface="Aptos"/>
              </a:rPr>
              <a:t>SAME SIGNAL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D6FDBA-4E42-4710-A81A-72448C09A538}"/>
              </a:ext>
            </a:extLst>
          </p:cNvPr>
          <p:cNvSpPr>
            <a:spLocks noGrp="1"/>
          </p:cNvSpPr>
          <p:nvPr/>
        </p:nvSpPr>
        <p:spPr>
          <a:xfrm>
            <a:off x="685800" y="2781300"/>
            <a:ext cx="39052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1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NEW MERCHANT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0CF045-2FA4-4B93-8168-62A1F13878C0}"/>
              </a:ext>
            </a:extLst>
          </p:cNvPr>
          <p:cNvSpPr>
            <a:spLocks noGrp="1"/>
          </p:cNvSpPr>
          <p:nvPr/>
        </p:nvSpPr>
        <p:spPr>
          <a:xfrm>
            <a:off x="685800" y="3648075"/>
            <a:ext cx="128587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696" lnSpcReduction="10000"/>
          </a:bodyPr>
          <a:lstStyle/>
          <a:p>
            <a:pPr>
              <a:defRPr sz="1275" b="0">
                <a:solidFill>
                  <a:srgbClr val="5C738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C7389"/>
                </a:solidFill>
                <a:latin typeface="Aptos"/>
                <a:ea typeface="Aptos"/>
                <a:cs typeface="Aptos"/>
              </a:rPr>
              <a:t>Could mean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86B1B59-1A84-4172-B364-8BD532B7A786}"/>
              </a:ext>
            </a:extLst>
          </p:cNvPr>
          <p:cNvSpPr>
            <a:spLocks noGrp="1"/>
          </p:cNvSpPr>
          <p:nvPr/>
        </p:nvSpPr>
        <p:spPr>
          <a:xfrm>
            <a:off x="685800" y="4114800"/>
            <a:ext cx="161925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9074"/>
          </a:bodyPr>
          <a:lstStyle/>
          <a:p>
            <a:pPr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Travel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D99E172-B88A-4C85-9648-51F0B4FC6C43}"/>
              </a:ext>
            </a:extLst>
          </p:cNvPr>
          <p:cNvSpPr>
            <a:spLocks noGrp="1"/>
          </p:cNvSpPr>
          <p:nvPr/>
        </p:nvSpPr>
        <p:spPr>
          <a:xfrm>
            <a:off x="2524125" y="4114800"/>
            <a:ext cx="304800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75" b="0">
                <a:solidFill>
                  <a:srgbClr val="5C738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C7389"/>
                </a:solidFill>
                <a:latin typeface="Aptos"/>
                <a:ea typeface="Aptos"/>
                <a:cs typeface="Aptos"/>
              </a:rPr>
              <a:t>A purchase in a new city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2E79D73-3C97-4F26-8874-D685025090AC}"/>
              </a:ext>
            </a:extLst>
          </p:cNvPr>
          <p:cNvSpPr>
            <a:spLocks noGrp="1"/>
          </p:cNvSpPr>
          <p:nvPr/>
        </p:nvSpPr>
        <p:spPr>
          <a:xfrm>
            <a:off x="685800" y="4591050"/>
            <a:ext cx="161925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9074"/>
          </a:bodyPr>
          <a:lstStyle/>
          <a:p>
            <a:pPr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Subscription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F83AC9E-BB5F-4592-9215-20507C6D482D}"/>
              </a:ext>
            </a:extLst>
          </p:cNvPr>
          <p:cNvSpPr>
            <a:spLocks noGrp="1"/>
          </p:cNvSpPr>
          <p:nvPr/>
        </p:nvSpPr>
        <p:spPr>
          <a:xfrm>
            <a:off x="2524125" y="4591050"/>
            <a:ext cx="304800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75" b="0">
                <a:solidFill>
                  <a:srgbClr val="5C738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C7389"/>
                </a:solidFill>
                <a:latin typeface="Aptos"/>
                <a:ea typeface="Aptos"/>
                <a:cs typeface="Aptos"/>
              </a:rPr>
              <a:t>A renamed recurring charge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91326B-CCC4-417C-AA30-6251F89FBFC9}"/>
              </a:ext>
            </a:extLst>
          </p:cNvPr>
          <p:cNvSpPr>
            <a:spLocks noGrp="1"/>
          </p:cNvSpPr>
          <p:nvPr/>
        </p:nvSpPr>
        <p:spPr>
          <a:xfrm>
            <a:off x="685800" y="5067300"/>
            <a:ext cx="161925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9074"/>
          </a:bodyPr>
          <a:lstStyle/>
          <a:p>
            <a:pPr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Shared account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E8BF0FC-E2C0-4DF6-94D1-9EABE47E2945}"/>
              </a:ext>
            </a:extLst>
          </p:cNvPr>
          <p:cNvSpPr>
            <a:spLocks noGrp="1"/>
          </p:cNvSpPr>
          <p:nvPr/>
        </p:nvSpPr>
        <p:spPr>
          <a:xfrm>
            <a:off x="2524125" y="5067300"/>
            <a:ext cx="304800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75" b="0">
                <a:solidFill>
                  <a:srgbClr val="5C738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C7389"/>
                </a:solidFill>
                <a:latin typeface="Aptos"/>
                <a:ea typeface="Aptos"/>
                <a:cs typeface="Aptos"/>
              </a:rPr>
              <a:t>A family member’s spend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225CBD2-9FE3-4E96-98C4-16F5DAEDC688}"/>
              </a:ext>
            </a:extLst>
          </p:cNvPr>
          <p:cNvSpPr>
            <a:spLocks noGrp="1"/>
          </p:cNvSpPr>
          <p:nvPr/>
        </p:nvSpPr>
        <p:spPr>
          <a:xfrm>
            <a:off x="685800" y="5543550"/>
            <a:ext cx="161925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9074"/>
          </a:bodyPr>
          <a:lstStyle/>
          <a:p>
            <a:pPr>
              <a:defRPr sz="1350" b="1">
                <a:solidFill>
                  <a:srgbClr val="EB575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B5757"/>
                </a:solidFill>
                <a:latin typeface="Aptos"/>
                <a:ea typeface="Aptos"/>
                <a:cs typeface="Aptos"/>
              </a:rPr>
              <a:t>Fraud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2873012-724E-494B-946D-40BA3E08B8B2}"/>
              </a:ext>
            </a:extLst>
          </p:cNvPr>
          <p:cNvSpPr>
            <a:spLocks noGrp="1"/>
          </p:cNvSpPr>
          <p:nvPr/>
        </p:nvSpPr>
        <p:spPr>
          <a:xfrm>
            <a:off x="2524125" y="5543550"/>
            <a:ext cx="304800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75" b="0">
                <a:solidFill>
                  <a:srgbClr val="5C738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C7389"/>
                </a:solidFill>
                <a:latin typeface="Aptos"/>
                <a:ea typeface="Aptos"/>
                <a:cs typeface="Aptos"/>
              </a:rPr>
              <a:t>An unauthorized payment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AC460C3-F154-4141-8D75-15D75F4AD14A}"/>
              </a:ext>
            </a:extLst>
          </p:cNvPr>
          <p:cNvSpPr>
            <a:spLocks noGrp="1"/>
          </p:cNvSpPr>
          <p:nvPr/>
        </p:nvSpPr>
        <p:spPr>
          <a:xfrm>
            <a:off x="6791325" y="2457450"/>
            <a:ext cx="3905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Why existing alerts fail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64EDB58-0485-44DF-BB69-2570BA9C0CD1}"/>
              </a:ext>
            </a:extLst>
          </p:cNvPr>
          <p:cNvSpPr>
            <a:spLocks noGrp="1"/>
          </p:cNvSpPr>
          <p:nvPr/>
        </p:nvSpPr>
        <p:spPr>
          <a:xfrm>
            <a:off x="6791325" y="3057525"/>
            <a:ext cx="4000500" cy="1714500"/>
          </a:xfrm>
          <a:prstGeom prst="roundRect">
            <a:avLst>
              <a:gd name="adj" fmla="val 4444"/>
            </a:avLst>
          </a:prstGeom>
          <a:solidFill>
            <a:srgbClr val="EAF3FB"/>
          </a:solidFill>
          <a:ln w="0">
            <a:noFill/>
          </a:ln>
        </p:spPr>
        <p:txBody>
          <a:bodyPr anchor="ctr">
            <a:normAutofit/>
          </a:bodyPr>
          <a:lstStyle/>
          <a:p>
            <a:pPr>
              <a:defRPr sz="17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Too many generic warnings train users to dismiss alerts.</a:t>
            </a:r>
          </a:p>
          <a:p>
            <a:endParaRPr sz="1725" b="0">
              <a:solidFill>
                <a:srgbClr val="102A43"/>
              </a:solidFill>
              <a:latin typeface="Aptos"/>
              <a:ea typeface="Aptos"/>
              <a:cs typeface="Aptos"/>
            </a:endParaRPr>
          </a:p>
          <a:p>
            <a:pPr>
              <a:defRPr sz="17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Too little context delays a response when the activity is actually harmful.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C0402AB-6E62-4074-AC9D-D3EBEDA492CA}"/>
              </a:ext>
            </a:extLst>
          </p:cNvPr>
          <p:cNvSpPr>
            <a:spLocks noGrp="1"/>
          </p:cNvSpPr>
          <p:nvPr/>
        </p:nvSpPr>
        <p:spPr>
          <a:xfrm>
            <a:off x="6791325" y="5238750"/>
            <a:ext cx="41910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575" b="1">
                <a:solidFill>
                  <a:srgbClr val="1D65D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D65D6"/>
                </a:solidFill>
                <a:latin typeface="Aptos"/>
                <a:ea typeface="Aptos"/>
                <a:cs typeface="Aptos"/>
              </a:rPr>
              <a:t>Goal: reduce false alarms while helping users respond quickly to genuine risk.</a:t>
            </a:r>
          </a:p>
        </p:txBody>
      </p:sp>
    </p:spTree>
    <p:extLst>
      <p:ext uri="{BB962C8B-B14F-4D97-AF65-F5344CB8AC3E}">
        <p14:creationId xmlns:p14="http://schemas.microsoft.com/office/powerpoint/2010/main" val="1038055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E3CB19F-6367-419C-AF1A-B5C2DE771AB9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5524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125" b="1">
                <a:solidFill>
                  <a:srgbClr val="36C7E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6C7E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3FAF758-399C-4145-A9E2-9212A0931FE6}"/>
              </a:ext>
            </a:extLst>
          </p:cNvPr>
          <p:cNvSpPr>
            <a:spLocks noGrp="1"/>
          </p:cNvSpPr>
          <p:nvPr/>
        </p:nvSpPr>
        <p:spPr>
          <a:xfrm>
            <a:off x="685800" y="866775"/>
            <a:ext cx="100012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6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How TrustLens works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37B3432-3ADB-4BC7-A5C7-79156E5993F0}"/>
              </a:ext>
            </a:extLst>
          </p:cNvPr>
          <p:cNvSpPr>
            <a:spLocks noGrp="1"/>
          </p:cNvSpPr>
          <p:nvPr/>
        </p:nvSpPr>
        <p:spPr>
          <a:xfrm>
            <a:off x="685800" y="1466850"/>
            <a:ext cx="91440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75" b="0">
                <a:solidFill>
                  <a:srgbClr val="5C738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C7389"/>
                </a:solidFill>
                <a:latin typeface="Aptos"/>
                <a:ea typeface="Aptos"/>
                <a:cs typeface="Aptos"/>
              </a:rPr>
              <a:t>The system combines transaction signals with real-world context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11AC3B23-2A45-4B8C-8599-0EF82697AF89}"/>
              </a:ext>
            </a:extLst>
          </p:cNvPr>
          <p:cNvSpPr>
            <a:spLocks noGrp="1"/>
          </p:cNvSpPr>
          <p:nvPr/>
        </p:nvSpPr>
        <p:spPr>
          <a:xfrm>
            <a:off x="685800" y="1971675"/>
            <a:ext cx="10820400" cy="0"/>
          </a:xfrm>
          <a:prstGeom prst="line">
            <a:avLst/>
          </a:prstGeom>
          <a:ln w="9525">
            <a:solidFill>
              <a:srgbClr val="D5E5F2"/>
            </a:solidFill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B5E939-BD28-492B-AFB9-D1C9D2831270}"/>
              </a:ext>
            </a:extLst>
          </p:cNvPr>
          <p:cNvSpPr>
            <a:spLocks noGrp="1"/>
          </p:cNvSpPr>
          <p:nvPr/>
        </p:nvSpPr>
        <p:spPr>
          <a:xfrm>
            <a:off x="876300" y="2352675"/>
            <a:ext cx="1952625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00" b="1">
                <a:solidFill>
                  <a:srgbClr val="1D65D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D65D6"/>
                </a:solidFill>
                <a:latin typeface="Aptos"/>
                <a:ea typeface="Aptos"/>
                <a:cs typeface="Aptos"/>
              </a:rPr>
              <a:t>INPUTS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7FEB45D-14EE-4464-86FE-DBF9BFB4477B}"/>
              </a:ext>
            </a:extLst>
          </p:cNvPr>
          <p:cNvSpPr>
            <a:spLocks noGrp="1"/>
          </p:cNvSpPr>
          <p:nvPr/>
        </p:nvSpPr>
        <p:spPr>
          <a:xfrm>
            <a:off x="781050" y="2838450"/>
            <a:ext cx="2333625" cy="11811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0">
            <a:noFill/>
          </a:ln>
        </p:spPr>
        <p:txBody>
          <a:bodyPr anchor="ctr">
            <a:normAutofit/>
          </a:bodyPr>
          <a:lstStyle/>
          <a:p>
            <a:pPr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Transaction details</a:t>
            </a:r>
          </a:p>
          <a:p>
            <a:pPr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Amount · merchant · time</a:t>
            </a:r>
          </a:p>
          <a:p>
            <a:pPr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Location · payment method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9F6061-EE92-4D55-AEAB-5D8064E08415}"/>
              </a:ext>
            </a:extLst>
          </p:cNvPr>
          <p:cNvSpPr>
            <a:spLocks noGrp="1"/>
          </p:cNvSpPr>
          <p:nvPr/>
        </p:nvSpPr>
        <p:spPr>
          <a:xfrm>
            <a:off x="781050" y="4400550"/>
            <a:ext cx="2333625" cy="11811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0">
            <a:noFill/>
          </a:ln>
        </p:spPr>
        <p:txBody>
          <a:bodyPr anchor="ctr">
            <a:normAutofit/>
          </a:bodyPr>
          <a:lstStyle/>
          <a:p>
            <a:pPr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User context</a:t>
            </a:r>
          </a:p>
          <a:p>
            <a:pPr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Travel · subscriptions</a:t>
            </a:r>
          </a:p>
          <a:p>
            <a:pPr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Shared account · device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F41C29-B33D-412F-85DA-5C952AFEA2A5}"/>
              </a:ext>
            </a:extLst>
          </p:cNvPr>
          <p:cNvSpPr>
            <a:spLocks noGrp="1"/>
          </p:cNvSpPr>
          <p:nvPr/>
        </p:nvSpPr>
        <p:spPr>
          <a:xfrm>
            <a:off x="4324350" y="2352675"/>
            <a:ext cx="3286125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00" b="1">
                <a:solidFill>
                  <a:srgbClr val="36C7E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6C7E6"/>
                </a:solidFill>
                <a:latin typeface="Aptos"/>
                <a:ea typeface="Aptos"/>
                <a:cs typeface="Aptos"/>
              </a:rPr>
              <a:t>TRUSTLENS ENGINE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CAE0DCE-503D-4A59-A18C-FC8DFA2A7816}"/>
              </a:ext>
            </a:extLst>
          </p:cNvPr>
          <p:cNvSpPr>
            <a:spLocks noGrp="1"/>
          </p:cNvSpPr>
          <p:nvPr/>
        </p:nvSpPr>
        <p:spPr>
          <a:xfrm>
            <a:off x="3933825" y="2838450"/>
            <a:ext cx="4048125" cy="2743200"/>
          </a:xfrm>
          <a:prstGeom prst="roundRect">
            <a:avLst>
              <a:gd name="adj" fmla="val 2778"/>
            </a:avLst>
          </a:prstGeom>
          <a:solidFill>
            <a:srgbClr val="071B33"/>
          </a:solidFill>
          <a:ln w="0">
            <a:noFill/>
          </a:ln>
        </p:spPr>
        <p:txBody>
          <a:bodyPr anchor="ctr">
            <a:norm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  Learns usual activity</a:t>
            </a:r>
          </a:p>
          <a:p>
            <a:endParaRPr sz="18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  <a:p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  Checks for a valid explanation</a:t>
            </a:r>
          </a:p>
          <a:p>
            <a:endParaRPr sz="18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  <a:p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  Calculates confidence and risk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026462-010C-415D-9AA0-C71261A1889D}"/>
              </a:ext>
            </a:extLst>
          </p:cNvPr>
          <p:cNvSpPr>
            <a:spLocks noGrp="1"/>
          </p:cNvSpPr>
          <p:nvPr/>
        </p:nvSpPr>
        <p:spPr>
          <a:xfrm>
            <a:off x="9220200" y="2352675"/>
            <a:ext cx="1952625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00" b="1">
                <a:solidFill>
                  <a:srgbClr val="49D6A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9D6AE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674D54D-9FFE-47C4-AA52-8D357B64ACD0}"/>
              </a:ext>
            </a:extLst>
          </p:cNvPr>
          <p:cNvSpPr>
            <a:spLocks noGrp="1"/>
          </p:cNvSpPr>
          <p:nvPr/>
        </p:nvSpPr>
        <p:spPr>
          <a:xfrm>
            <a:off x="8820150" y="2838450"/>
            <a:ext cx="2190750" cy="666750"/>
          </a:xfrm>
          <a:prstGeom prst="roundRect">
            <a:avLst>
              <a:gd name="adj" fmla="val 11429"/>
            </a:avLst>
          </a:prstGeom>
          <a:solidFill>
            <a:srgbClr val="D5F6EB"/>
          </a:solidFill>
          <a:ln w="0">
            <a:noFill/>
          </a:ln>
        </p:spPr>
        <p:txBody>
          <a:bodyPr anchor="ctr">
            <a:normAutofit/>
          </a:bodyPr>
          <a:lstStyle/>
          <a:p>
            <a:pPr>
              <a:defRPr sz="142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Low risk</a:t>
            </a:r>
          </a:p>
          <a:p>
            <a:pPr>
              <a:defRPr sz="142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Explain and reassure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87B331E-9289-4A84-9AD7-BF321D4F9BB1}"/>
              </a:ext>
            </a:extLst>
          </p:cNvPr>
          <p:cNvSpPr>
            <a:spLocks noGrp="1"/>
          </p:cNvSpPr>
          <p:nvPr/>
        </p:nvSpPr>
        <p:spPr>
          <a:xfrm>
            <a:off x="8820150" y="3876675"/>
            <a:ext cx="2190750" cy="666750"/>
          </a:xfrm>
          <a:prstGeom prst="roundRect">
            <a:avLst>
              <a:gd name="adj" fmla="val 11429"/>
            </a:avLst>
          </a:prstGeom>
          <a:solidFill>
            <a:srgbClr val="FFF0C5"/>
          </a:solidFill>
          <a:ln w="0">
            <a:noFill/>
          </a:ln>
        </p:spPr>
        <p:txBody>
          <a:bodyPr anchor="ctr">
            <a:normAutofit/>
          </a:bodyPr>
          <a:lstStyle/>
          <a:p>
            <a:pPr>
              <a:defRPr sz="142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Medium risk</a:t>
            </a:r>
          </a:p>
          <a:p>
            <a:pPr>
              <a:defRPr sz="142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Ask for confirmation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C874A2C-0330-4ADD-9612-44E61BE1564F}"/>
              </a:ext>
            </a:extLst>
          </p:cNvPr>
          <p:cNvSpPr>
            <a:spLocks noGrp="1"/>
          </p:cNvSpPr>
          <p:nvPr/>
        </p:nvSpPr>
        <p:spPr>
          <a:xfrm>
            <a:off x="8820150" y="4914900"/>
            <a:ext cx="2190750" cy="666750"/>
          </a:xfrm>
          <a:prstGeom prst="roundRect">
            <a:avLst>
              <a:gd name="adj" fmla="val 11429"/>
            </a:avLst>
          </a:prstGeom>
          <a:solidFill>
            <a:srgbClr val="FFE2E2"/>
          </a:solidFill>
          <a:ln w="0">
            <a:noFill/>
          </a:ln>
        </p:spPr>
        <p:txBody>
          <a:bodyPr anchor="ctr">
            <a:normAutofit/>
          </a:bodyPr>
          <a:lstStyle/>
          <a:p>
            <a:pPr>
              <a:defRPr sz="142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High risk</a:t>
            </a:r>
          </a:p>
          <a:p>
            <a:pPr>
              <a:defRPr sz="142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Protect the account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E2FD9380-691D-4398-80A8-3C571DA6DE33}"/>
              </a:ext>
            </a:extLst>
          </p:cNvPr>
          <p:cNvSpPr>
            <a:spLocks noGrp="1"/>
          </p:cNvSpPr>
          <p:nvPr/>
        </p:nvSpPr>
        <p:spPr>
          <a:xfrm>
            <a:off x="3124200" y="3429000"/>
            <a:ext cx="800100" cy="0"/>
          </a:xfrm>
          <a:prstGeom prst="line">
            <a:avLst/>
          </a:prstGeom>
          <a:ln w="38100">
            <a:solidFill>
              <a:srgbClr val="8EB9D4"/>
            </a:solidFill>
          </a:ln>
        </p:spPr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533D4E67-2F8A-476F-9E56-4149F1AE3501}"/>
              </a:ext>
            </a:extLst>
          </p:cNvPr>
          <p:cNvSpPr>
            <a:spLocks noGrp="1"/>
          </p:cNvSpPr>
          <p:nvPr/>
        </p:nvSpPr>
        <p:spPr>
          <a:xfrm>
            <a:off x="3124200" y="5000625"/>
            <a:ext cx="800100" cy="0"/>
          </a:xfrm>
          <a:prstGeom prst="line">
            <a:avLst/>
          </a:prstGeom>
          <a:ln w="38100">
            <a:solidFill>
              <a:srgbClr val="8EB9D4"/>
            </a:solidFill>
          </a:ln>
        </p:spPr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789756F6-F36D-4D3D-9451-1516272C6516}"/>
              </a:ext>
            </a:extLst>
          </p:cNvPr>
          <p:cNvSpPr>
            <a:spLocks noGrp="1"/>
          </p:cNvSpPr>
          <p:nvPr/>
        </p:nvSpPr>
        <p:spPr>
          <a:xfrm>
            <a:off x="8001000" y="4210050"/>
            <a:ext cx="800100" cy="0"/>
          </a:xfrm>
          <a:prstGeom prst="line">
            <a:avLst/>
          </a:prstGeom>
          <a:ln w="38100">
            <a:solidFill>
              <a:srgbClr val="8EB9D4"/>
            </a:solidFill>
          </a:ln>
        </p:spPr>
      </p:sp>
    </p:spTree>
    <p:extLst>
      <p:ext uri="{BB962C8B-B14F-4D97-AF65-F5344CB8AC3E}">
        <p14:creationId xmlns:p14="http://schemas.microsoft.com/office/powerpoint/2010/main" val="1074303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6E5DE3CD-808E-4BF7-BEDA-8C3B8C1E3CE6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5524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125" b="1">
                <a:solidFill>
                  <a:srgbClr val="36C7E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6C7E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286C548-E750-4A31-80BC-3C4E0A53F32B}"/>
              </a:ext>
            </a:extLst>
          </p:cNvPr>
          <p:cNvSpPr>
            <a:spLocks noGrp="1"/>
          </p:cNvSpPr>
          <p:nvPr/>
        </p:nvSpPr>
        <p:spPr>
          <a:xfrm>
            <a:off x="685800" y="866775"/>
            <a:ext cx="100012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6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Four-layer safety engine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05AAAA-A009-43A4-B0F5-2E52E415B966}"/>
              </a:ext>
            </a:extLst>
          </p:cNvPr>
          <p:cNvSpPr>
            <a:spLocks noGrp="1"/>
          </p:cNvSpPr>
          <p:nvPr/>
        </p:nvSpPr>
        <p:spPr>
          <a:xfrm>
            <a:off x="685800" y="1466850"/>
            <a:ext cx="91440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75" b="0">
                <a:solidFill>
                  <a:srgbClr val="5C738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C7389"/>
                </a:solidFill>
                <a:latin typeface="Aptos"/>
                <a:ea typeface="Aptos"/>
                <a:cs typeface="Aptos"/>
              </a:rPr>
              <a:t>Each layer narrows uncertainty before the system disrupts the user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5F49F8B4-317B-4AAE-AFE8-84519266DE2A}"/>
              </a:ext>
            </a:extLst>
          </p:cNvPr>
          <p:cNvSpPr>
            <a:spLocks noGrp="1"/>
          </p:cNvSpPr>
          <p:nvPr/>
        </p:nvSpPr>
        <p:spPr>
          <a:xfrm>
            <a:off x="685800" y="1971675"/>
            <a:ext cx="10820400" cy="0"/>
          </a:xfrm>
          <a:prstGeom prst="line">
            <a:avLst/>
          </a:prstGeom>
          <a:ln w="9525">
            <a:solidFill>
              <a:srgbClr val="D5E5F2"/>
            </a:solidFill>
          </a:ln>
        </p:spPr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D4DFEB4-A71C-47F7-A449-BFF1AB04510E}"/>
              </a:ext>
            </a:extLst>
          </p:cNvPr>
          <p:cNvSpPr>
            <a:spLocks noGrp="1"/>
          </p:cNvSpPr>
          <p:nvPr/>
        </p:nvSpPr>
        <p:spPr>
          <a:xfrm>
            <a:off x="704850" y="2390775"/>
            <a:ext cx="533400" cy="533400"/>
          </a:xfrm>
          <a:prstGeom prst="ellipse">
            <a:avLst/>
          </a:prstGeom>
          <a:solidFill>
            <a:srgbClr val="1D65D6"/>
          </a:solidFill>
          <a:ln w="0">
            <a:noFill/>
          </a:ln>
        </p:spPr>
        <p:txBody>
          <a:bodyPr anchor="ctr">
            <a:normAutofit fontScale="92500"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414957-7B83-44F3-A5C7-3C7C12A6163D}"/>
              </a:ext>
            </a:extLst>
          </p:cNvPr>
          <p:cNvSpPr>
            <a:spLocks noGrp="1"/>
          </p:cNvSpPr>
          <p:nvPr/>
        </p:nvSpPr>
        <p:spPr>
          <a:xfrm>
            <a:off x="1504950" y="2381250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6667" lnSpcReduction="10000"/>
          </a:bodyPr>
          <a:lstStyle/>
          <a:p>
            <a:pPr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Pattern Reader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A66659-9B36-45B4-A798-0D87002EDCCC}"/>
              </a:ext>
            </a:extLst>
          </p:cNvPr>
          <p:cNvSpPr>
            <a:spLocks noGrp="1"/>
          </p:cNvSpPr>
          <p:nvPr/>
        </p:nvSpPr>
        <p:spPr>
          <a:xfrm>
            <a:off x="1504950" y="2676525"/>
            <a:ext cx="6858000" cy="257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555" lnSpcReduction="10000"/>
          </a:bodyPr>
          <a:lstStyle/>
          <a:p>
            <a:pPr>
              <a:defRPr sz="1350" b="0">
                <a:solidFill>
                  <a:srgbClr val="5C738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C7389"/>
                </a:solidFill>
                <a:latin typeface="Aptos"/>
                <a:ea typeface="Aptos"/>
                <a:cs typeface="Aptos"/>
              </a:rPr>
              <a:t>Builds a personal baseline from transaction behaviour.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8C13781A-3594-4132-A436-BAB3A6AF9EB5}"/>
              </a:ext>
            </a:extLst>
          </p:cNvPr>
          <p:cNvSpPr>
            <a:spLocks noGrp="1"/>
          </p:cNvSpPr>
          <p:nvPr/>
        </p:nvSpPr>
        <p:spPr>
          <a:xfrm>
            <a:off x="8858250" y="2647950"/>
            <a:ext cx="2038350" cy="0"/>
          </a:xfrm>
          <a:prstGeom prst="line">
            <a:avLst/>
          </a:prstGeom>
          <a:ln w="76200">
            <a:solidFill>
              <a:srgbClr val="1D65D6"/>
            </a:solidFill>
          </a:ln>
        </p:spPr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EA0E6B1-B3AB-40B7-8FB7-0963CF8B0F5D}"/>
              </a:ext>
            </a:extLst>
          </p:cNvPr>
          <p:cNvSpPr>
            <a:spLocks noGrp="1"/>
          </p:cNvSpPr>
          <p:nvPr/>
        </p:nvSpPr>
        <p:spPr>
          <a:xfrm>
            <a:off x="704850" y="3276600"/>
            <a:ext cx="533400" cy="533400"/>
          </a:xfrm>
          <a:prstGeom prst="ellipse">
            <a:avLst/>
          </a:prstGeom>
          <a:solidFill>
            <a:srgbClr val="36C7E6"/>
          </a:solidFill>
          <a:ln w="0">
            <a:noFill/>
          </a:ln>
        </p:spPr>
        <p:txBody>
          <a:bodyPr anchor="ctr">
            <a:normAutofit fontScale="92500"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EC6B6D-2F7E-44F0-999E-C69AE1CC2D89}"/>
              </a:ext>
            </a:extLst>
          </p:cNvPr>
          <p:cNvSpPr>
            <a:spLocks noGrp="1"/>
          </p:cNvSpPr>
          <p:nvPr/>
        </p:nvSpPr>
        <p:spPr>
          <a:xfrm>
            <a:off x="1504950" y="3267075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6667" lnSpcReduction="10000"/>
          </a:bodyPr>
          <a:lstStyle/>
          <a:p>
            <a:pPr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Context Verifier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19AB46-389B-4F99-8574-AF63F309140B}"/>
              </a:ext>
            </a:extLst>
          </p:cNvPr>
          <p:cNvSpPr>
            <a:spLocks noGrp="1"/>
          </p:cNvSpPr>
          <p:nvPr/>
        </p:nvSpPr>
        <p:spPr>
          <a:xfrm>
            <a:off x="1504950" y="3562350"/>
            <a:ext cx="6858000" cy="257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555" lnSpcReduction="10000"/>
          </a:bodyPr>
          <a:lstStyle/>
          <a:p>
            <a:pPr>
              <a:defRPr sz="1350" b="0">
                <a:solidFill>
                  <a:srgbClr val="5C738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C7389"/>
                </a:solidFill>
                <a:latin typeface="Aptos"/>
                <a:ea typeface="Aptos"/>
                <a:cs typeface="Aptos"/>
              </a:rPr>
              <a:t>Checks travel, known subscriptions and shared-account signals.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759E9303-11C4-4D0F-A2E3-3EEDDB6851CE}"/>
              </a:ext>
            </a:extLst>
          </p:cNvPr>
          <p:cNvSpPr>
            <a:spLocks noGrp="1"/>
          </p:cNvSpPr>
          <p:nvPr/>
        </p:nvSpPr>
        <p:spPr>
          <a:xfrm>
            <a:off x="8858250" y="3533775"/>
            <a:ext cx="2038350" cy="0"/>
          </a:xfrm>
          <a:prstGeom prst="line">
            <a:avLst/>
          </a:prstGeom>
          <a:ln w="76200">
            <a:solidFill>
              <a:srgbClr val="36C7E6"/>
            </a:solidFill>
          </a:ln>
        </p:spPr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CA3A6B7-9E5C-48E1-9603-B21DAF057117}"/>
              </a:ext>
            </a:extLst>
          </p:cNvPr>
          <p:cNvSpPr>
            <a:spLocks noGrp="1"/>
          </p:cNvSpPr>
          <p:nvPr/>
        </p:nvSpPr>
        <p:spPr>
          <a:xfrm>
            <a:off x="704850" y="4162425"/>
            <a:ext cx="533400" cy="533400"/>
          </a:xfrm>
          <a:prstGeom prst="ellipse">
            <a:avLst/>
          </a:prstGeom>
          <a:solidFill>
            <a:srgbClr val="FFC857"/>
          </a:solidFill>
          <a:ln w="0">
            <a:noFill/>
          </a:ln>
        </p:spPr>
        <p:txBody>
          <a:bodyPr anchor="ctr">
            <a:normAutofit fontScale="92500"/>
          </a:bodyPr>
          <a:lstStyle/>
          <a:p>
            <a:pPr>
              <a:defRPr sz="1500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9D9E070-0017-46DA-A0AB-F69716584543}"/>
              </a:ext>
            </a:extLst>
          </p:cNvPr>
          <p:cNvSpPr>
            <a:spLocks noGrp="1"/>
          </p:cNvSpPr>
          <p:nvPr/>
        </p:nvSpPr>
        <p:spPr>
          <a:xfrm>
            <a:off x="1504950" y="4152900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6667" lnSpcReduction="10000"/>
          </a:bodyPr>
          <a:lstStyle/>
          <a:p>
            <a:pPr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Risk &amp; Scam Shield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BA194AA-4B3C-44FE-90E6-F52A140BBF49}"/>
              </a:ext>
            </a:extLst>
          </p:cNvPr>
          <p:cNvSpPr>
            <a:spLocks noGrp="1"/>
          </p:cNvSpPr>
          <p:nvPr/>
        </p:nvSpPr>
        <p:spPr>
          <a:xfrm>
            <a:off x="1504950" y="4448175"/>
            <a:ext cx="6858000" cy="257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555" lnSpcReduction="10000"/>
          </a:bodyPr>
          <a:lstStyle/>
          <a:p>
            <a:pPr>
              <a:defRPr sz="1350" b="0">
                <a:solidFill>
                  <a:srgbClr val="5C738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C7389"/>
                </a:solidFill>
                <a:latin typeface="Aptos"/>
                <a:ea typeface="Aptos"/>
                <a:cs typeface="Aptos"/>
              </a:rPr>
              <a:t>Looks for unfamiliar devices, rapid repeats and high-risk behaviour.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E83F5846-DB56-4EF7-B061-1EC9310F1FE4}"/>
              </a:ext>
            </a:extLst>
          </p:cNvPr>
          <p:cNvSpPr>
            <a:spLocks noGrp="1"/>
          </p:cNvSpPr>
          <p:nvPr/>
        </p:nvSpPr>
        <p:spPr>
          <a:xfrm>
            <a:off x="8858250" y="4419600"/>
            <a:ext cx="2038350" cy="0"/>
          </a:xfrm>
          <a:prstGeom prst="line">
            <a:avLst/>
          </a:prstGeom>
          <a:ln w="76200">
            <a:solidFill>
              <a:srgbClr val="FFC857"/>
            </a:solidFill>
          </a:ln>
        </p:spPr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7C8650B-34EC-4007-B6D5-593780F5DAFF}"/>
              </a:ext>
            </a:extLst>
          </p:cNvPr>
          <p:cNvSpPr>
            <a:spLocks noGrp="1"/>
          </p:cNvSpPr>
          <p:nvPr/>
        </p:nvSpPr>
        <p:spPr>
          <a:xfrm>
            <a:off x="704850" y="5048250"/>
            <a:ext cx="533400" cy="533400"/>
          </a:xfrm>
          <a:prstGeom prst="ellipse">
            <a:avLst/>
          </a:prstGeom>
          <a:solidFill>
            <a:srgbClr val="49D6AE"/>
          </a:solidFill>
          <a:ln w="0">
            <a:noFill/>
          </a:ln>
        </p:spPr>
        <p:txBody>
          <a:bodyPr anchor="ctr">
            <a:normAutofit fontScale="92500"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9390C54-4987-487A-B86B-13481CCD1243}"/>
              </a:ext>
            </a:extLst>
          </p:cNvPr>
          <p:cNvSpPr>
            <a:spLocks noGrp="1"/>
          </p:cNvSpPr>
          <p:nvPr/>
        </p:nvSpPr>
        <p:spPr>
          <a:xfrm>
            <a:off x="1504950" y="5038725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6667" lnSpcReduction="10000"/>
          </a:bodyPr>
          <a:lstStyle/>
          <a:p>
            <a:pPr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Smart Action Router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B86CC22-68BC-447B-950F-C4F4856EE44E}"/>
              </a:ext>
            </a:extLst>
          </p:cNvPr>
          <p:cNvSpPr>
            <a:spLocks noGrp="1"/>
          </p:cNvSpPr>
          <p:nvPr/>
        </p:nvSpPr>
        <p:spPr>
          <a:xfrm>
            <a:off x="1504950" y="5334000"/>
            <a:ext cx="6858000" cy="257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555" lnSpcReduction="10000"/>
          </a:bodyPr>
          <a:lstStyle/>
          <a:p>
            <a:pPr>
              <a:defRPr sz="1350" b="0">
                <a:solidFill>
                  <a:srgbClr val="5C738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C7389"/>
                </a:solidFill>
                <a:latin typeface="Aptos"/>
                <a:ea typeface="Aptos"/>
                <a:cs typeface="Aptos"/>
              </a:rPr>
              <a:t>Chooses the least disruptive safe response.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56CFC721-7E39-41BD-B0CA-06D78F1A0E91}"/>
              </a:ext>
            </a:extLst>
          </p:cNvPr>
          <p:cNvSpPr>
            <a:spLocks noGrp="1"/>
          </p:cNvSpPr>
          <p:nvPr/>
        </p:nvSpPr>
        <p:spPr>
          <a:xfrm>
            <a:off x="8858250" y="5305425"/>
            <a:ext cx="2038350" cy="0"/>
          </a:xfrm>
          <a:prstGeom prst="line">
            <a:avLst/>
          </a:prstGeom>
          <a:ln w="76200">
            <a:solidFill>
              <a:srgbClr val="49D6AE"/>
            </a:solidFill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927B478-9427-4C35-A800-377F1DA21DAD}"/>
              </a:ext>
            </a:extLst>
          </p:cNvPr>
          <p:cNvSpPr>
            <a:spLocks noGrp="1"/>
          </p:cNvSpPr>
          <p:nvPr/>
        </p:nvSpPr>
        <p:spPr>
          <a:xfrm>
            <a:off x="9572625" y="2305050"/>
            <a:ext cx="1333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125" b="1">
                <a:solidFill>
                  <a:srgbClr val="5C738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C7389"/>
                </a:solidFill>
                <a:latin typeface="Aptos"/>
                <a:ea typeface="Aptos"/>
                <a:cs typeface="Aptos"/>
              </a:rPr>
              <a:t>Goal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F3FEA22-FC0F-4267-AF10-08D45610FDFC}"/>
              </a:ext>
            </a:extLst>
          </p:cNvPr>
          <p:cNvSpPr>
            <a:spLocks noGrp="1"/>
          </p:cNvSpPr>
          <p:nvPr/>
        </p:nvSpPr>
        <p:spPr>
          <a:xfrm>
            <a:off x="8905875" y="5619750"/>
            <a:ext cx="2333625" cy="666750"/>
          </a:xfrm>
          <a:prstGeom prst="roundRect">
            <a:avLst>
              <a:gd name="adj" fmla="val 11429"/>
            </a:avLst>
          </a:prstGeom>
          <a:solidFill>
            <a:srgbClr val="071B33"/>
          </a:solidFill>
          <a:ln w="0">
            <a:noFill/>
          </a:ln>
        </p:spPr>
        <p:txBody>
          <a:bodyPr anchor="ctr">
            <a:normAutofit fontScale="92197" lnSpcReduction="20000"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Fewer false alarms</a:t>
            </a:r>
          </a:p>
          <a:p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Faster response to real risk</a:t>
            </a:r>
          </a:p>
        </p:txBody>
      </p:sp>
    </p:spTree>
    <p:extLst>
      <p:ext uri="{BB962C8B-B14F-4D97-AF65-F5344CB8AC3E}">
        <p14:creationId xmlns:p14="http://schemas.microsoft.com/office/powerpoint/2010/main" val="19249459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6D43A3AF-2651-4395-8BB8-7A7269FAEAC2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5524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125" b="1">
                <a:solidFill>
                  <a:srgbClr val="36C7E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6C7E6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71F3E6-7DC7-4AD2-A363-2BE13AE26434}"/>
              </a:ext>
            </a:extLst>
          </p:cNvPr>
          <p:cNvSpPr>
            <a:spLocks noGrp="1"/>
          </p:cNvSpPr>
          <p:nvPr/>
        </p:nvSpPr>
        <p:spPr>
          <a:xfrm>
            <a:off x="685800" y="866775"/>
            <a:ext cx="100012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6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Decision flow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04A9B7C-534F-4CDF-85EE-E1F65327815F}"/>
              </a:ext>
            </a:extLst>
          </p:cNvPr>
          <p:cNvSpPr>
            <a:spLocks noGrp="1"/>
          </p:cNvSpPr>
          <p:nvPr/>
        </p:nvSpPr>
        <p:spPr>
          <a:xfrm>
            <a:off x="685800" y="1466850"/>
            <a:ext cx="91440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75" b="0">
                <a:solidFill>
                  <a:srgbClr val="5C738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C7389"/>
                </a:solidFill>
                <a:latin typeface="Aptos"/>
                <a:ea typeface="Aptos"/>
                <a:cs typeface="Aptos"/>
              </a:rPr>
              <a:t>Context turns an anomaly into a clear next step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9FFD9EB7-54B0-4565-87D1-149BD4D229C1}"/>
              </a:ext>
            </a:extLst>
          </p:cNvPr>
          <p:cNvSpPr>
            <a:spLocks noGrp="1"/>
          </p:cNvSpPr>
          <p:nvPr/>
        </p:nvSpPr>
        <p:spPr>
          <a:xfrm>
            <a:off x="685800" y="1971675"/>
            <a:ext cx="10820400" cy="0"/>
          </a:xfrm>
          <a:prstGeom prst="line">
            <a:avLst/>
          </a:prstGeom>
          <a:ln w="9525">
            <a:solidFill>
              <a:srgbClr val="D5E5F2"/>
            </a:solidFill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48021CE-7E0A-4526-A651-91AFF2D63337}"/>
              </a:ext>
            </a:extLst>
          </p:cNvPr>
          <p:cNvSpPr>
            <a:spLocks noGrp="1"/>
          </p:cNvSpPr>
          <p:nvPr/>
        </p:nvSpPr>
        <p:spPr>
          <a:xfrm>
            <a:off x="666750" y="3009900"/>
            <a:ext cx="1695450" cy="904875"/>
          </a:xfrm>
          <a:prstGeom prst="roundRect">
            <a:avLst>
              <a:gd name="adj" fmla="val 8421"/>
            </a:avLst>
          </a:prstGeom>
          <a:solidFill>
            <a:srgbClr val="1D65D6"/>
          </a:solidFill>
          <a:ln w="0">
            <a:noFill/>
          </a:ln>
        </p:spPr>
        <p:txBody>
          <a:bodyPr anchor="ctr">
            <a:norm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New transaction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1A74E3D4-602E-42FB-A3EB-424915C20D02}"/>
              </a:ext>
            </a:extLst>
          </p:cNvPr>
          <p:cNvSpPr>
            <a:spLocks noGrp="1"/>
          </p:cNvSpPr>
          <p:nvPr/>
        </p:nvSpPr>
        <p:spPr>
          <a:xfrm>
            <a:off x="2390775" y="3457575"/>
            <a:ext cx="409575" cy="0"/>
          </a:xfrm>
          <a:prstGeom prst="line">
            <a:avLst/>
          </a:prstGeom>
          <a:ln w="38100">
            <a:solidFill>
              <a:srgbClr val="92B9D1"/>
            </a:solidFill>
          </a:ln>
        </p:spPr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C669F6A-6B0F-46FC-A58C-4D39E8505042}"/>
              </a:ext>
            </a:extLst>
          </p:cNvPr>
          <p:cNvSpPr>
            <a:spLocks noGrp="1"/>
          </p:cNvSpPr>
          <p:nvPr/>
        </p:nvSpPr>
        <p:spPr>
          <a:xfrm>
            <a:off x="2895600" y="3009900"/>
            <a:ext cx="1695450" cy="904875"/>
          </a:xfrm>
          <a:prstGeom prst="roundRect">
            <a:avLst>
              <a:gd name="adj" fmla="val 8421"/>
            </a:avLst>
          </a:prstGeom>
          <a:solidFill>
            <a:srgbClr val="1D65D6"/>
          </a:solidFill>
          <a:ln w="0">
            <a:noFill/>
          </a:ln>
        </p:spPr>
        <p:txBody>
          <a:bodyPr anchor="ctr">
            <a:norm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Compare with</a:t>
            </a:r>
          </a:p>
          <a:p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personal pattern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53050767-05C8-48B1-9499-C5F689D9A561}"/>
              </a:ext>
            </a:extLst>
          </p:cNvPr>
          <p:cNvSpPr>
            <a:spLocks noGrp="1"/>
          </p:cNvSpPr>
          <p:nvPr/>
        </p:nvSpPr>
        <p:spPr>
          <a:xfrm>
            <a:off x="4619625" y="3457575"/>
            <a:ext cx="409575" cy="0"/>
          </a:xfrm>
          <a:prstGeom prst="line">
            <a:avLst/>
          </a:prstGeom>
          <a:ln w="38100">
            <a:solidFill>
              <a:srgbClr val="92B9D1"/>
            </a:solidFill>
          </a:ln>
        </p:spPr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11C2D2B-1A31-43A3-96AA-43532420EBF1}"/>
              </a:ext>
            </a:extLst>
          </p:cNvPr>
          <p:cNvSpPr>
            <a:spLocks noGrp="1"/>
          </p:cNvSpPr>
          <p:nvPr/>
        </p:nvSpPr>
        <p:spPr>
          <a:xfrm>
            <a:off x="5124450" y="3009900"/>
            <a:ext cx="1695450" cy="904875"/>
          </a:xfrm>
          <a:prstGeom prst="roundRect">
            <a:avLst>
              <a:gd name="adj" fmla="val 8421"/>
            </a:avLst>
          </a:prstGeom>
          <a:solidFill>
            <a:srgbClr val="36C7E6"/>
          </a:solidFill>
          <a:ln w="0">
            <a:noFill/>
          </a:ln>
        </p:spPr>
        <p:txBody>
          <a:bodyPr anchor="ctr">
            <a:norm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Check context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9D7CF7C9-6849-4AE7-9FF6-0FD21FD63582}"/>
              </a:ext>
            </a:extLst>
          </p:cNvPr>
          <p:cNvSpPr>
            <a:spLocks noGrp="1"/>
          </p:cNvSpPr>
          <p:nvPr/>
        </p:nvSpPr>
        <p:spPr>
          <a:xfrm>
            <a:off x="6848475" y="3457575"/>
            <a:ext cx="409575" cy="0"/>
          </a:xfrm>
          <a:prstGeom prst="line">
            <a:avLst/>
          </a:prstGeom>
          <a:ln w="38100">
            <a:solidFill>
              <a:srgbClr val="92B9D1"/>
            </a:solidFill>
          </a:ln>
        </p:spPr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F6FC2FB-36D7-467C-B270-669A76DDCF09}"/>
              </a:ext>
            </a:extLst>
          </p:cNvPr>
          <p:cNvSpPr>
            <a:spLocks noGrp="1"/>
          </p:cNvSpPr>
          <p:nvPr/>
        </p:nvSpPr>
        <p:spPr>
          <a:xfrm>
            <a:off x="7353300" y="3009900"/>
            <a:ext cx="1695450" cy="904875"/>
          </a:xfrm>
          <a:prstGeom prst="roundRect">
            <a:avLst>
              <a:gd name="adj" fmla="val 8421"/>
            </a:avLst>
          </a:prstGeom>
          <a:solidFill>
            <a:srgbClr val="FFC857"/>
          </a:solidFill>
          <a:ln w="0">
            <a:noFill/>
          </a:ln>
        </p:spPr>
        <p:txBody>
          <a:bodyPr anchor="ctr">
            <a:normAutofit/>
          </a:bodyPr>
          <a:lstStyle/>
          <a:p>
            <a:pPr>
              <a:defRPr sz="1500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Estimate risk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46513736-7692-4877-9156-EBFF9F33B6F2}"/>
              </a:ext>
            </a:extLst>
          </p:cNvPr>
          <p:cNvSpPr>
            <a:spLocks noGrp="1"/>
          </p:cNvSpPr>
          <p:nvPr/>
        </p:nvSpPr>
        <p:spPr>
          <a:xfrm>
            <a:off x="9077325" y="3457575"/>
            <a:ext cx="409575" cy="0"/>
          </a:xfrm>
          <a:prstGeom prst="line">
            <a:avLst/>
          </a:prstGeom>
          <a:ln w="38100">
            <a:solidFill>
              <a:srgbClr val="92B9D1"/>
            </a:solidFill>
          </a:ln>
        </p:spPr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7D85228-228B-4A14-B546-2AEAD6C86C7A}"/>
              </a:ext>
            </a:extLst>
          </p:cNvPr>
          <p:cNvSpPr>
            <a:spLocks noGrp="1"/>
          </p:cNvSpPr>
          <p:nvPr/>
        </p:nvSpPr>
        <p:spPr>
          <a:xfrm>
            <a:off x="9582150" y="3009900"/>
            <a:ext cx="1695450" cy="904875"/>
          </a:xfrm>
          <a:prstGeom prst="roundRect">
            <a:avLst>
              <a:gd name="adj" fmla="val 8421"/>
            </a:avLst>
          </a:prstGeom>
          <a:solidFill>
            <a:srgbClr val="49D6AE"/>
          </a:solidFill>
          <a:ln w="0">
            <a:noFill/>
          </a:ln>
        </p:spPr>
        <p:txBody>
          <a:bodyPr anchor="ctr">
            <a:norm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Choose action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5BFD0F0-CA8C-4805-9A31-45D40A30BE2F}"/>
              </a:ext>
            </a:extLst>
          </p:cNvPr>
          <p:cNvSpPr>
            <a:spLocks noGrp="1"/>
          </p:cNvSpPr>
          <p:nvPr/>
        </p:nvSpPr>
        <p:spPr>
          <a:xfrm>
            <a:off x="971550" y="4857750"/>
            <a:ext cx="1024890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055" lnSpcReduction="10000"/>
          </a:bodyPr>
          <a:lstStyle/>
          <a:p>
            <a:pPr>
              <a:defRPr sz="18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 transaction alone may look unsafe. The surrounding story determines whether the user needs reassurance, confirmation or protection.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5261603-09FF-4C5B-AC85-4333B9D2B7E2}"/>
              </a:ext>
            </a:extLst>
          </p:cNvPr>
          <p:cNvSpPr>
            <a:spLocks noGrp="1"/>
          </p:cNvSpPr>
          <p:nvPr/>
        </p:nvSpPr>
        <p:spPr>
          <a:xfrm>
            <a:off x="3371850" y="5848350"/>
            <a:ext cx="1143000" cy="304800"/>
          </a:xfrm>
          <a:prstGeom prst="roundRect">
            <a:avLst>
              <a:gd name="adj" fmla="val 25000"/>
            </a:avLst>
          </a:prstGeom>
          <a:solidFill>
            <a:srgbClr val="D6E8FF"/>
          </a:solidFill>
          <a:ln w="0">
            <a:noFill/>
          </a:ln>
        </p:spPr>
        <p:txBody>
          <a:bodyPr anchor="ctr">
            <a:normAutofit/>
          </a:bodyPr>
          <a:lstStyle/>
          <a:p>
            <a:pPr>
              <a:defRPr sz="1050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Pattern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1CF026F-51CD-4581-901E-28CA20C0E109}"/>
              </a:ext>
            </a:extLst>
          </p:cNvPr>
          <p:cNvSpPr>
            <a:spLocks noGrp="1"/>
          </p:cNvSpPr>
          <p:nvPr/>
        </p:nvSpPr>
        <p:spPr>
          <a:xfrm>
            <a:off x="5524500" y="5848350"/>
            <a:ext cx="1143000" cy="304800"/>
          </a:xfrm>
          <a:prstGeom prst="roundRect">
            <a:avLst>
              <a:gd name="adj" fmla="val 25000"/>
            </a:avLst>
          </a:prstGeom>
          <a:solidFill>
            <a:srgbClr val="C9F2FA"/>
          </a:solidFill>
          <a:ln w="0">
            <a:noFill/>
          </a:ln>
        </p:spPr>
        <p:txBody>
          <a:bodyPr anchor="ctr">
            <a:normAutofit/>
          </a:bodyPr>
          <a:lstStyle/>
          <a:p>
            <a:pPr>
              <a:defRPr sz="1050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Context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999B710-61EB-452B-B735-8BE70643B378}"/>
              </a:ext>
            </a:extLst>
          </p:cNvPr>
          <p:cNvSpPr>
            <a:spLocks noGrp="1"/>
          </p:cNvSpPr>
          <p:nvPr/>
        </p:nvSpPr>
        <p:spPr>
          <a:xfrm>
            <a:off x="7677150" y="5848350"/>
            <a:ext cx="1143000" cy="304800"/>
          </a:xfrm>
          <a:prstGeom prst="roundRect">
            <a:avLst>
              <a:gd name="adj" fmla="val 25000"/>
            </a:avLst>
          </a:prstGeom>
          <a:solidFill>
            <a:srgbClr val="FFE8A8"/>
          </a:solidFill>
          <a:ln w="0">
            <a:noFill/>
          </a:ln>
        </p:spPr>
        <p:txBody>
          <a:bodyPr anchor="ctr">
            <a:normAutofit/>
          </a:bodyPr>
          <a:lstStyle/>
          <a:p>
            <a:pPr>
              <a:defRPr sz="1050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Risk</a:t>
            </a:r>
          </a:p>
        </p:txBody>
      </p:sp>
    </p:spTree>
    <p:extLst>
      <p:ext uri="{BB962C8B-B14F-4D97-AF65-F5344CB8AC3E}">
        <p14:creationId xmlns:p14="http://schemas.microsoft.com/office/powerpoint/2010/main" val="521136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7C00D4B-E0E4-42C4-963E-FFE2D5018C12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5524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125" b="1">
                <a:solidFill>
                  <a:srgbClr val="36C7E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6C7E6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6AC927B-9D56-452F-AAB9-15AA1A60AEE1}"/>
              </a:ext>
            </a:extLst>
          </p:cNvPr>
          <p:cNvSpPr>
            <a:spLocks noGrp="1"/>
          </p:cNvSpPr>
          <p:nvPr/>
        </p:nvSpPr>
        <p:spPr>
          <a:xfrm>
            <a:off x="685800" y="866775"/>
            <a:ext cx="100012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6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User experience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AA9FFA-6DFC-445D-B251-7BBDC74F9AC1}"/>
              </a:ext>
            </a:extLst>
          </p:cNvPr>
          <p:cNvSpPr>
            <a:spLocks noGrp="1"/>
          </p:cNvSpPr>
          <p:nvPr/>
        </p:nvSpPr>
        <p:spPr>
          <a:xfrm>
            <a:off x="685800" y="1466850"/>
            <a:ext cx="91440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75" b="0">
                <a:solidFill>
                  <a:srgbClr val="5C738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C7389"/>
                </a:solidFill>
                <a:latin typeface="Aptos"/>
                <a:ea typeface="Aptos"/>
                <a:cs typeface="Aptos"/>
              </a:rPr>
              <a:t>A direct explanation replaces a vague fraud alert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FC191A8C-34A7-4004-A64B-791810DD8751}"/>
              </a:ext>
            </a:extLst>
          </p:cNvPr>
          <p:cNvSpPr>
            <a:spLocks noGrp="1"/>
          </p:cNvSpPr>
          <p:nvPr/>
        </p:nvSpPr>
        <p:spPr>
          <a:xfrm>
            <a:off x="685800" y="1971675"/>
            <a:ext cx="10820400" cy="0"/>
          </a:xfrm>
          <a:prstGeom prst="line">
            <a:avLst/>
          </a:prstGeom>
          <a:ln w="9525">
            <a:solidFill>
              <a:srgbClr val="D5E5F2"/>
            </a:solidFill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4389B1-89BA-493C-BE52-8F57AACF6B29}"/>
              </a:ext>
            </a:extLst>
          </p:cNvPr>
          <p:cNvSpPr>
            <a:spLocks noGrp="1"/>
          </p:cNvSpPr>
          <p:nvPr/>
        </p:nvSpPr>
        <p:spPr>
          <a:xfrm>
            <a:off x="723900" y="2447925"/>
            <a:ext cx="1809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/>
          </a:bodyPr>
          <a:lstStyle/>
          <a:p>
            <a:pPr>
              <a:defRPr sz="1200" b="1">
                <a:solidFill>
                  <a:srgbClr val="1D65D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D65D6"/>
                </a:solidFill>
                <a:latin typeface="Aptos"/>
                <a:ea typeface="Aptos"/>
                <a:cs typeface="Aptos"/>
              </a:rPr>
              <a:t>Scenario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CEF210-7444-4715-A5C4-CBDDEF0E36D9}"/>
              </a:ext>
            </a:extLst>
          </p:cNvPr>
          <p:cNvSpPr>
            <a:spLocks noGrp="1"/>
          </p:cNvSpPr>
          <p:nvPr/>
        </p:nvSpPr>
        <p:spPr>
          <a:xfrm>
            <a:off x="723900" y="2838450"/>
            <a:ext cx="4857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7356"/>
          </a:bodyPr>
          <a:lstStyle/>
          <a:p>
            <a:pPr>
              <a:defRPr sz="21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₹12,000 online purchase at 2:00 AM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CB6942-CD95-4E98-A0A4-FC14F43FEB62}"/>
              </a:ext>
            </a:extLst>
          </p:cNvPr>
          <p:cNvSpPr>
            <a:spLocks noGrp="1"/>
          </p:cNvSpPr>
          <p:nvPr/>
        </p:nvSpPr>
        <p:spPr>
          <a:xfrm>
            <a:off x="723900" y="3409950"/>
            <a:ext cx="4953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185"/>
          </a:bodyPr>
          <a:lstStyle/>
          <a:p>
            <a:pPr>
              <a:defRPr sz="1350" b="0">
                <a:solidFill>
                  <a:srgbClr val="5C738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C7389"/>
                </a:solidFill>
                <a:latin typeface="Aptos"/>
                <a:ea typeface="Aptos"/>
                <a:cs typeface="Aptos"/>
              </a:rPr>
              <a:t>New merchant · Unusual time · New device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1DA2421-F414-40B6-9AED-7CDC9AC426C6}"/>
              </a:ext>
            </a:extLst>
          </p:cNvPr>
          <p:cNvSpPr>
            <a:spLocks noGrp="1"/>
          </p:cNvSpPr>
          <p:nvPr/>
        </p:nvSpPr>
        <p:spPr>
          <a:xfrm>
            <a:off x="6610350" y="2324100"/>
            <a:ext cx="2381250" cy="257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667" lnSpcReduction="10000"/>
          </a:bodyPr>
          <a:lstStyle/>
          <a:p>
            <a:pPr>
              <a:defRPr sz="1125" b="1">
                <a:solidFill>
                  <a:srgbClr val="1D65D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D65D6"/>
                </a:solidFill>
                <a:latin typeface="Aptos"/>
                <a:ea typeface="Aptos"/>
                <a:cs typeface="Aptos"/>
              </a:rPr>
              <a:t>TRUSTLENS ALERT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84800D0-F6D8-4D6F-A7D7-90FF1A60F8D1}"/>
              </a:ext>
            </a:extLst>
          </p:cNvPr>
          <p:cNvSpPr>
            <a:spLocks noGrp="1"/>
          </p:cNvSpPr>
          <p:nvPr/>
        </p:nvSpPr>
        <p:spPr>
          <a:xfrm>
            <a:off x="6610350" y="2771775"/>
            <a:ext cx="3886200" cy="838200"/>
          </a:xfrm>
          <a:prstGeom prst="roundRect">
            <a:avLst>
              <a:gd name="adj" fmla="val 9091"/>
            </a:avLst>
          </a:prstGeom>
          <a:solidFill>
            <a:srgbClr val="EAF3FB"/>
          </a:solidFill>
          <a:ln w="0">
            <a:noFill/>
          </a:ln>
        </p:spPr>
        <p:txBody>
          <a:bodyPr anchor="ctr">
            <a:normAutofit/>
          </a:bodyPr>
          <a:lstStyle/>
          <a:p>
            <a:pPr>
              <a:defRPr sz="18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We noticed a purchase that does not match your recent activity.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4CB8C6-3C30-43FF-8198-507A8B50E26F}"/>
              </a:ext>
            </a:extLst>
          </p:cNvPr>
          <p:cNvSpPr>
            <a:spLocks noGrp="1"/>
          </p:cNvSpPr>
          <p:nvPr/>
        </p:nvSpPr>
        <p:spPr>
          <a:xfrm>
            <a:off x="6610350" y="3819525"/>
            <a:ext cx="38862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350" b="0">
                <a:solidFill>
                  <a:srgbClr val="5C738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C7389"/>
                </a:solidFill>
                <a:latin typeface="Aptos"/>
                <a:ea typeface="Aptos"/>
                <a:cs typeface="Aptos"/>
              </a:rPr>
              <a:t>No matching travel, subscription or shared-account context was found.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A69307D-1C8A-4F47-9C67-AA495620E290}"/>
              </a:ext>
            </a:extLst>
          </p:cNvPr>
          <p:cNvSpPr>
            <a:spLocks noGrp="1"/>
          </p:cNvSpPr>
          <p:nvPr/>
        </p:nvSpPr>
        <p:spPr>
          <a:xfrm>
            <a:off x="6610350" y="4629150"/>
            <a:ext cx="1857375" cy="514350"/>
          </a:xfrm>
          <a:prstGeom prst="roundRect">
            <a:avLst>
              <a:gd name="adj" fmla="val 14815"/>
            </a:avLst>
          </a:prstGeom>
          <a:solidFill>
            <a:srgbClr val="49D6AE"/>
          </a:solidFill>
          <a:ln w="0">
            <a:noFill/>
          </a:ln>
        </p:spPr>
        <p:txBody>
          <a:bodyPr anchor="ctr">
            <a:normAutofit/>
          </a:bodyPr>
          <a:lstStyle/>
          <a:p>
            <a:pPr>
              <a:defRPr sz="1500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Was this you?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1AD6502-59C1-462F-863C-A7507F8B4045}"/>
              </a:ext>
            </a:extLst>
          </p:cNvPr>
          <p:cNvSpPr>
            <a:spLocks noGrp="1"/>
          </p:cNvSpPr>
          <p:nvPr/>
        </p:nvSpPr>
        <p:spPr>
          <a:xfrm>
            <a:off x="8639175" y="4629150"/>
            <a:ext cx="1857375" cy="514350"/>
          </a:xfrm>
          <a:prstGeom prst="roundRect">
            <a:avLst>
              <a:gd name="adj" fmla="val 14815"/>
            </a:avLst>
          </a:prstGeom>
          <a:solidFill>
            <a:srgbClr val="071B33"/>
          </a:solidFill>
          <a:ln w="0">
            <a:noFill/>
          </a:ln>
        </p:spPr>
        <p:txBody>
          <a:bodyPr anchor="ctr">
            <a:norm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Secure my card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62BD5C8-FA5E-4EE4-926F-1B6A9653E837}"/>
              </a:ext>
            </a:extLst>
          </p:cNvPr>
          <p:cNvSpPr>
            <a:spLocks noGrp="1"/>
          </p:cNvSpPr>
          <p:nvPr/>
        </p:nvSpPr>
        <p:spPr>
          <a:xfrm>
            <a:off x="723900" y="5362575"/>
            <a:ext cx="466725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304" lnSpcReduction="10000"/>
          </a:bodyPr>
          <a:lstStyle/>
          <a:p>
            <a:pPr>
              <a:defRPr sz="1725" b="1">
                <a:solidFill>
                  <a:srgbClr val="1D65D6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D65D6"/>
                </a:solidFill>
                <a:latin typeface="Aptos"/>
                <a:ea typeface="Aptos"/>
                <a:cs typeface="Aptos"/>
              </a:rPr>
              <a:t>The product gives the user evidence, control and an immediate safety path.</a:t>
            </a:r>
          </a:p>
        </p:txBody>
      </p:sp>
    </p:spTree>
    <p:extLst>
      <p:ext uri="{BB962C8B-B14F-4D97-AF65-F5344CB8AC3E}">
        <p14:creationId xmlns:p14="http://schemas.microsoft.com/office/powerpoint/2010/main" val="12196345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3AEF37A4-8478-4028-9D0C-06CAF7D56523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5524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125" b="1">
                <a:solidFill>
                  <a:srgbClr val="36C7E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6C7E6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FDEA90-BA3D-4ABE-B77B-EBD38F32E82F}"/>
              </a:ext>
            </a:extLst>
          </p:cNvPr>
          <p:cNvSpPr>
            <a:spLocks noGrp="1"/>
          </p:cNvSpPr>
          <p:nvPr/>
        </p:nvSpPr>
        <p:spPr>
          <a:xfrm>
            <a:off x="685800" y="866775"/>
            <a:ext cx="100012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6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Proposed tech stack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1A94F0-210D-412B-BFD7-1C5C3D74D7BA}"/>
              </a:ext>
            </a:extLst>
          </p:cNvPr>
          <p:cNvSpPr>
            <a:spLocks noGrp="1"/>
          </p:cNvSpPr>
          <p:nvPr/>
        </p:nvSpPr>
        <p:spPr>
          <a:xfrm>
            <a:off x="685800" y="1466850"/>
            <a:ext cx="91440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75" b="0">
                <a:solidFill>
                  <a:srgbClr val="5C738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C7389"/>
                </a:solidFill>
                <a:latin typeface="Aptos"/>
                <a:ea typeface="Aptos"/>
                <a:cs typeface="Aptos"/>
              </a:rPr>
              <a:t>A practical stack for building the TrustLens prototype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23C66DAF-5A53-402E-9A2B-D34174407E12}"/>
              </a:ext>
            </a:extLst>
          </p:cNvPr>
          <p:cNvSpPr>
            <a:spLocks noGrp="1"/>
          </p:cNvSpPr>
          <p:nvPr/>
        </p:nvSpPr>
        <p:spPr>
          <a:xfrm>
            <a:off x="685800" y="1971675"/>
            <a:ext cx="10820400" cy="0"/>
          </a:xfrm>
          <a:prstGeom prst="line">
            <a:avLst/>
          </a:prstGeom>
          <a:ln w="9525">
            <a:solidFill>
              <a:srgbClr val="D5E5F2"/>
            </a:solidFill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1E5636-35CD-4FCA-B82C-743C9080A401}"/>
              </a:ext>
            </a:extLst>
          </p:cNvPr>
          <p:cNvSpPr>
            <a:spLocks noGrp="1"/>
          </p:cNvSpPr>
          <p:nvPr/>
        </p:nvSpPr>
        <p:spPr>
          <a:xfrm>
            <a:off x="742950" y="2352675"/>
            <a:ext cx="1619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42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6671F7-6BB5-4C5F-9F8B-50599C4880D5}"/>
              </a:ext>
            </a:extLst>
          </p:cNvPr>
          <p:cNvSpPr>
            <a:spLocks noGrp="1"/>
          </p:cNvSpPr>
          <p:nvPr/>
        </p:nvSpPr>
        <p:spPr>
          <a:xfrm>
            <a:off x="2647950" y="2352675"/>
            <a:ext cx="2381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650" b="1">
                <a:solidFill>
                  <a:srgbClr val="1D65D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D65D6"/>
                </a:solidFill>
                <a:latin typeface="Aptos"/>
                <a:ea typeface="Aptos"/>
                <a:cs typeface="Aptos"/>
              </a:rPr>
              <a:t>React or Flutter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BF2D9D-39BA-4D3C-963F-CC9DE0FA3F4B}"/>
              </a:ext>
            </a:extLst>
          </p:cNvPr>
          <p:cNvSpPr>
            <a:spLocks noGrp="1"/>
          </p:cNvSpPr>
          <p:nvPr/>
        </p:nvSpPr>
        <p:spPr>
          <a:xfrm>
            <a:off x="5467350" y="2352675"/>
            <a:ext cx="52387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350" b="0">
                <a:solidFill>
                  <a:srgbClr val="5C738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C7389"/>
                </a:solidFill>
                <a:latin typeface="Aptos"/>
                <a:ea typeface="Aptos"/>
                <a:cs typeface="Aptos"/>
              </a:rPr>
              <a:t>Transaction alert and confirmation screens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7515D529-9AD5-4718-BE40-5389DC5EDAAE}"/>
              </a:ext>
            </a:extLst>
          </p:cNvPr>
          <p:cNvSpPr>
            <a:spLocks noGrp="1"/>
          </p:cNvSpPr>
          <p:nvPr/>
        </p:nvSpPr>
        <p:spPr>
          <a:xfrm>
            <a:off x="742950" y="2943225"/>
            <a:ext cx="10115550" cy="0"/>
          </a:xfrm>
          <a:prstGeom prst="line">
            <a:avLst/>
          </a:prstGeom>
          <a:ln w="9525">
            <a:solidFill>
              <a:srgbClr val="DCEAF4"/>
            </a:solidFill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03B161-7F9F-4DBF-A4BD-0F332E13F1BD}"/>
              </a:ext>
            </a:extLst>
          </p:cNvPr>
          <p:cNvSpPr>
            <a:spLocks noGrp="1"/>
          </p:cNvSpPr>
          <p:nvPr/>
        </p:nvSpPr>
        <p:spPr>
          <a:xfrm>
            <a:off x="742950" y="3257550"/>
            <a:ext cx="1619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42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DFDFF0D-7E47-46AF-8A38-3BB66321A28C}"/>
              </a:ext>
            </a:extLst>
          </p:cNvPr>
          <p:cNvSpPr>
            <a:spLocks noGrp="1"/>
          </p:cNvSpPr>
          <p:nvPr/>
        </p:nvSpPr>
        <p:spPr>
          <a:xfrm>
            <a:off x="2647950" y="3257550"/>
            <a:ext cx="2381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650" b="1">
                <a:solidFill>
                  <a:srgbClr val="36C7E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6C7E6"/>
                </a:solidFill>
                <a:latin typeface="Aptos"/>
                <a:ea typeface="Aptos"/>
                <a:cs typeface="Aptos"/>
              </a:rPr>
              <a:t>Python with FastAPI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D5BBDF5-0C81-4A59-9E49-CFAE5A4BBC52}"/>
              </a:ext>
            </a:extLst>
          </p:cNvPr>
          <p:cNvSpPr>
            <a:spLocks noGrp="1"/>
          </p:cNvSpPr>
          <p:nvPr/>
        </p:nvSpPr>
        <p:spPr>
          <a:xfrm>
            <a:off x="5467350" y="3257550"/>
            <a:ext cx="52387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350" b="0">
                <a:solidFill>
                  <a:srgbClr val="5C738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C7389"/>
                </a:solidFill>
                <a:latin typeface="Aptos"/>
                <a:ea typeface="Aptos"/>
                <a:cs typeface="Aptos"/>
              </a:rPr>
              <a:t>APIs, decision logic and alert routing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B0842E60-1969-4BAB-A835-F4378AA636B3}"/>
              </a:ext>
            </a:extLst>
          </p:cNvPr>
          <p:cNvSpPr>
            <a:spLocks noGrp="1"/>
          </p:cNvSpPr>
          <p:nvPr/>
        </p:nvSpPr>
        <p:spPr>
          <a:xfrm>
            <a:off x="742950" y="3848100"/>
            <a:ext cx="10115550" cy="0"/>
          </a:xfrm>
          <a:prstGeom prst="line">
            <a:avLst/>
          </a:prstGeom>
          <a:ln w="9525">
            <a:solidFill>
              <a:srgbClr val="DCEAF4"/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F554709-F617-4928-B026-07BEEB882582}"/>
              </a:ext>
            </a:extLst>
          </p:cNvPr>
          <p:cNvSpPr>
            <a:spLocks noGrp="1"/>
          </p:cNvSpPr>
          <p:nvPr/>
        </p:nvSpPr>
        <p:spPr>
          <a:xfrm>
            <a:off x="742950" y="4162425"/>
            <a:ext cx="1619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42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Risk model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3808CE4-4BD1-4893-8D53-D2F49FBCD3E2}"/>
              </a:ext>
            </a:extLst>
          </p:cNvPr>
          <p:cNvSpPr>
            <a:spLocks noGrp="1"/>
          </p:cNvSpPr>
          <p:nvPr/>
        </p:nvSpPr>
        <p:spPr>
          <a:xfrm>
            <a:off x="2647950" y="4162425"/>
            <a:ext cx="2381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650" b="1">
                <a:solidFill>
                  <a:srgbClr val="FFC85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C857"/>
                </a:solidFill>
                <a:latin typeface="Aptos"/>
                <a:ea typeface="Aptos"/>
                <a:cs typeface="Aptos"/>
              </a:rPr>
              <a:t>scikit-learn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85BC2AF-EC9B-4CC8-8335-45BFD67CEB61}"/>
              </a:ext>
            </a:extLst>
          </p:cNvPr>
          <p:cNvSpPr>
            <a:spLocks noGrp="1"/>
          </p:cNvSpPr>
          <p:nvPr/>
        </p:nvSpPr>
        <p:spPr>
          <a:xfrm>
            <a:off x="5467350" y="4162425"/>
            <a:ext cx="52387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350" b="0">
                <a:solidFill>
                  <a:srgbClr val="5C738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C7389"/>
                </a:solidFill>
                <a:latin typeface="Aptos"/>
                <a:ea typeface="Aptos"/>
                <a:cs typeface="Aptos"/>
              </a:rPr>
              <a:t>Personal pattern scoring and anomaly detection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E38E1950-B9F1-4D14-B79D-13ECF80D5BEE}"/>
              </a:ext>
            </a:extLst>
          </p:cNvPr>
          <p:cNvSpPr>
            <a:spLocks noGrp="1"/>
          </p:cNvSpPr>
          <p:nvPr/>
        </p:nvSpPr>
        <p:spPr>
          <a:xfrm>
            <a:off x="742950" y="4752975"/>
            <a:ext cx="10115550" cy="0"/>
          </a:xfrm>
          <a:prstGeom prst="line">
            <a:avLst/>
          </a:prstGeom>
          <a:ln w="9525">
            <a:solidFill>
              <a:srgbClr val="DCEAF4"/>
            </a:solidFill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33FEE82-D632-41AD-9E74-D3B58A981E02}"/>
              </a:ext>
            </a:extLst>
          </p:cNvPr>
          <p:cNvSpPr>
            <a:spLocks noGrp="1"/>
          </p:cNvSpPr>
          <p:nvPr/>
        </p:nvSpPr>
        <p:spPr>
          <a:xfrm>
            <a:off x="742950" y="5067300"/>
            <a:ext cx="1619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42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Data layer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4B4C0EF-0E7C-4C4B-8FB1-830E01E52128}"/>
              </a:ext>
            </a:extLst>
          </p:cNvPr>
          <p:cNvSpPr>
            <a:spLocks noGrp="1"/>
          </p:cNvSpPr>
          <p:nvPr/>
        </p:nvSpPr>
        <p:spPr>
          <a:xfrm>
            <a:off x="2647950" y="5067300"/>
            <a:ext cx="2381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650" b="1">
                <a:solidFill>
                  <a:srgbClr val="49D6A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49D6AE"/>
                </a:solidFill>
                <a:latin typeface="Aptos"/>
                <a:ea typeface="Aptos"/>
                <a:cs typeface="Aptos"/>
              </a:rPr>
              <a:t>PostgreSQL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50E4F9D-68ED-4C37-AE99-2AB324503B93}"/>
              </a:ext>
            </a:extLst>
          </p:cNvPr>
          <p:cNvSpPr>
            <a:spLocks noGrp="1"/>
          </p:cNvSpPr>
          <p:nvPr/>
        </p:nvSpPr>
        <p:spPr>
          <a:xfrm>
            <a:off x="5467350" y="5067300"/>
            <a:ext cx="52387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350" b="0">
                <a:solidFill>
                  <a:srgbClr val="5C738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C7389"/>
                </a:solidFill>
                <a:latin typeface="Aptos"/>
                <a:ea typeface="Aptos"/>
                <a:cs typeface="Aptos"/>
              </a:rPr>
              <a:t>Transaction history, user preferences and audit records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8047D2B2-7A8E-4DAD-B255-C43D0342481C}"/>
              </a:ext>
            </a:extLst>
          </p:cNvPr>
          <p:cNvSpPr>
            <a:spLocks noGrp="1"/>
          </p:cNvSpPr>
          <p:nvPr/>
        </p:nvSpPr>
        <p:spPr>
          <a:xfrm>
            <a:off x="742950" y="5657850"/>
            <a:ext cx="10115550" cy="0"/>
          </a:xfrm>
          <a:prstGeom prst="line">
            <a:avLst/>
          </a:prstGeom>
          <a:ln w="9525">
            <a:solidFill>
              <a:srgbClr val="DCEAF4"/>
            </a:solidFill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564412C-4485-48C3-9693-A9E8EB8051B2}"/>
              </a:ext>
            </a:extLst>
          </p:cNvPr>
          <p:cNvSpPr>
            <a:spLocks noGrp="1"/>
          </p:cNvSpPr>
          <p:nvPr/>
        </p:nvSpPr>
        <p:spPr>
          <a:xfrm>
            <a:off x="742950" y="6162675"/>
            <a:ext cx="9334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/>
          </a:bodyPr>
          <a:lstStyle/>
          <a:p>
            <a:pPr>
              <a:defRPr sz="1200" b="0">
                <a:solidFill>
                  <a:srgbClr val="5C738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C7389"/>
                </a:solidFill>
                <a:latin typeface="Aptos"/>
                <a:ea typeface="Aptos"/>
                <a:cs typeface="Aptos"/>
              </a:rPr>
              <a:t>Optional integrations: transaction-data API and location signals for travel context.</a:t>
            </a:r>
          </a:p>
        </p:txBody>
      </p:sp>
    </p:spTree>
    <p:extLst>
      <p:ext uri="{BB962C8B-B14F-4D97-AF65-F5344CB8AC3E}">
        <p14:creationId xmlns:p14="http://schemas.microsoft.com/office/powerpoint/2010/main" val="17156294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BA4ECF6-96E1-4DBF-9622-39EB8E5D00C5}"/>
              </a:ext>
            </a:extLst>
          </p:cNvPr>
          <p:cNvSpPr>
            <a:spLocks noGrp="1"/>
          </p:cNvSpPr>
          <p:nvPr/>
        </p:nvSpPr>
        <p:spPr>
          <a:xfrm>
            <a:off x="742950" y="742950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75" b="1">
                <a:solidFill>
                  <a:srgbClr val="36C7E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6C7E6"/>
                </a:solidFill>
                <a:latin typeface="Aptos"/>
                <a:ea typeface="Aptos"/>
                <a:cs typeface="Aptos"/>
              </a:rPr>
              <a:t>TEAM ROLES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7BD62C8-82A5-4422-BBD6-054D3C53E1A4}"/>
              </a:ext>
            </a:extLst>
          </p:cNvPr>
          <p:cNvSpPr>
            <a:spLocks noGrp="1"/>
          </p:cNvSpPr>
          <p:nvPr/>
        </p:nvSpPr>
        <p:spPr>
          <a:xfrm>
            <a:off x="742950" y="1238250"/>
            <a:ext cx="762000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9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Who owns each part of TrustLens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3514949-251C-49E4-8AD5-9469DA8685B9}"/>
              </a:ext>
            </a:extLst>
          </p:cNvPr>
          <p:cNvSpPr>
            <a:spLocks noGrp="1"/>
          </p:cNvSpPr>
          <p:nvPr/>
        </p:nvSpPr>
        <p:spPr>
          <a:xfrm>
            <a:off x="781050" y="2667000"/>
            <a:ext cx="2000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246"/>
          </a:bodyPr>
          <a:lstStyle/>
          <a:p>
            <a:pPr>
              <a:defRPr sz="1425" b="1">
                <a:solidFill>
                  <a:srgbClr val="49D6A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49D6AE"/>
                </a:solidFill>
                <a:latin typeface="Aptos"/>
                <a:ea typeface="Aptos"/>
                <a:cs typeface="Aptos"/>
              </a:rPr>
              <a:t>Devanshi Singh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7BF980-E4FE-4757-82BC-A8338C19909A}"/>
              </a:ext>
            </a:extLst>
          </p:cNvPr>
          <p:cNvSpPr>
            <a:spLocks noGrp="1"/>
          </p:cNvSpPr>
          <p:nvPr/>
        </p:nvSpPr>
        <p:spPr>
          <a:xfrm>
            <a:off x="3143250" y="2667000"/>
            <a:ext cx="2619375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659" lnSpcReduction="10000"/>
          </a:bodyPr>
          <a:lstStyle/>
          <a:p>
            <a:pPr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Product, UX &amp; research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D4C587-C9B0-428A-8348-ED0FD26F7304}"/>
              </a:ext>
            </a:extLst>
          </p:cNvPr>
          <p:cNvSpPr>
            <a:spLocks noGrp="1"/>
          </p:cNvSpPr>
          <p:nvPr/>
        </p:nvSpPr>
        <p:spPr>
          <a:xfrm>
            <a:off x="5981700" y="2741972"/>
            <a:ext cx="4762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8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en-US" sz="120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Context checks, frontend flow and alert experience</a:t>
            </a:r>
          </a:p>
          <a:p>
            <a:pPr>
              <a:defRPr sz="1350" b="0">
                <a:solidFill>
                  <a:srgbClr val="C8DBEF"/>
                </a:solidFill>
                <a:latin typeface="Aptos"/>
                <a:ea typeface="Aptos"/>
                <a:cs typeface="Aptos"/>
              </a:defRPr>
            </a:pPr>
            <a:endParaRPr sz="1350" b="0" dirty="0">
              <a:solidFill>
                <a:srgbClr val="C8DBE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FDAB4476-6760-4CE7-97E1-49CDC276F9FD}"/>
              </a:ext>
            </a:extLst>
          </p:cNvPr>
          <p:cNvSpPr>
            <a:spLocks noGrp="1"/>
          </p:cNvSpPr>
          <p:nvPr/>
        </p:nvSpPr>
        <p:spPr>
          <a:xfrm>
            <a:off x="781050" y="3409950"/>
            <a:ext cx="10134600" cy="0"/>
          </a:xfrm>
          <a:prstGeom prst="line">
            <a:avLst/>
          </a:prstGeom>
          <a:ln w="9525">
            <a:solidFill>
              <a:srgbClr val="1B3D5D"/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60FF49-FD3B-4146-BFC0-D91630978716}"/>
              </a:ext>
            </a:extLst>
          </p:cNvPr>
          <p:cNvSpPr>
            <a:spLocks noGrp="1"/>
          </p:cNvSpPr>
          <p:nvPr/>
        </p:nvSpPr>
        <p:spPr>
          <a:xfrm>
            <a:off x="781050" y="3790950"/>
            <a:ext cx="2000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246"/>
          </a:bodyPr>
          <a:lstStyle/>
          <a:p>
            <a:pPr>
              <a:defRPr sz="1425" b="1">
                <a:solidFill>
                  <a:srgbClr val="49D6A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49D6AE"/>
                </a:solidFill>
                <a:latin typeface="Aptos"/>
                <a:ea typeface="Aptos"/>
                <a:cs typeface="Aptos"/>
              </a:rPr>
              <a:t>Vidya Jha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B2FE7F1-19BF-4B93-92CA-6E8CFE23B3E8}"/>
              </a:ext>
            </a:extLst>
          </p:cNvPr>
          <p:cNvSpPr>
            <a:spLocks noGrp="1"/>
          </p:cNvSpPr>
          <p:nvPr/>
        </p:nvSpPr>
        <p:spPr>
          <a:xfrm>
            <a:off x="3143250" y="3790950"/>
            <a:ext cx="2619375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659" lnSpcReduction="10000"/>
          </a:bodyPr>
          <a:lstStyle/>
          <a:p>
            <a:pPr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Engineering &amp; risk logic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08E34C1-2710-40DC-AF4C-8E3A60F69D09}"/>
              </a:ext>
            </a:extLst>
          </p:cNvPr>
          <p:cNvSpPr>
            <a:spLocks noGrp="1"/>
          </p:cNvSpPr>
          <p:nvPr/>
        </p:nvSpPr>
        <p:spPr>
          <a:xfrm>
            <a:off x="6096000" y="3873296"/>
            <a:ext cx="4762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8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en-US" sz="120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Pattern learning, backend API and risk scoring</a:t>
            </a:r>
          </a:p>
          <a:p>
            <a:pPr>
              <a:defRPr sz="1350" b="0">
                <a:solidFill>
                  <a:srgbClr val="C8DBEF"/>
                </a:solidFill>
                <a:latin typeface="Aptos"/>
                <a:ea typeface="Aptos"/>
                <a:cs typeface="Aptos"/>
              </a:defRPr>
            </a:pPr>
            <a:endParaRPr sz="1350" b="0" dirty="0">
              <a:solidFill>
                <a:srgbClr val="C8DBE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8A78319E-9404-489F-B5F6-5E920319FA32}"/>
              </a:ext>
            </a:extLst>
          </p:cNvPr>
          <p:cNvSpPr>
            <a:spLocks noGrp="1"/>
          </p:cNvSpPr>
          <p:nvPr/>
        </p:nvSpPr>
        <p:spPr>
          <a:xfrm>
            <a:off x="781050" y="4533900"/>
            <a:ext cx="10134600" cy="0"/>
          </a:xfrm>
          <a:prstGeom prst="line">
            <a:avLst/>
          </a:prstGeom>
          <a:ln w="9525">
            <a:solidFill>
              <a:srgbClr val="1B3D5D"/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B0337C3-F85C-4073-A903-17DAD8EA8AA9}"/>
              </a:ext>
            </a:extLst>
          </p:cNvPr>
          <p:cNvSpPr>
            <a:spLocks noGrp="1"/>
          </p:cNvSpPr>
          <p:nvPr/>
        </p:nvSpPr>
        <p:spPr>
          <a:xfrm>
            <a:off x="742950" y="5524500"/>
            <a:ext cx="2190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185"/>
          </a:bodyPr>
          <a:lstStyle/>
          <a:p>
            <a:pPr>
              <a:defRPr sz="1350" b="1">
                <a:solidFill>
                  <a:srgbClr val="49D6AE"/>
                </a:solidFill>
                <a:latin typeface="Aptos"/>
                <a:ea typeface="Aptos"/>
                <a:cs typeface="Aptos"/>
              </a:defRPr>
            </a:pPr>
            <a:r>
              <a:rPr sz="1350" b="1" dirty="0">
                <a:solidFill>
                  <a:srgbClr val="49D6AE"/>
                </a:solidFill>
                <a:latin typeface="Aptos"/>
                <a:ea typeface="Aptos"/>
                <a:cs typeface="Aptos"/>
              </a:rPr>
              <a:t>Joint responsibility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30C8DD-63EC-4E72-AFB7-6C2256DD4068}"/>
              </a:ext>
            </a:extLst>
          </p:cNvPr>
          <p:cNvSpPr>
            <a:spLocks noGrp="1"/>
          </p:cNvSpPr>
          <p:nvPr/>
        </p:nvSpPr>
        <p:spPr>
          <a:xfrm>
            <a:off x="3143250" y="5429250"/>
            <a:ext cx="7239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500"/>
          </a:bodyPr>
          <a:lstStyle/>
          <a:p>
            <a:pPr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Integrate the solution, test the user flow, refine the demo and present the project together.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76A19EB-778F-4EE3-B84A-A1E78BCF1FDC}"/>
              </a:ext>
            </a:extLst>
          </p:cNvPr>
          <p:cNvSpPr>
            <a:spLocks noGrp="1"/>
          </p:cNvSpPr>
          <p:nvPr/>
        </p:nvSpPr>
        <p:spPr>
          <a:xfrm>
            <a:off x="781050" y="6191250"/>
            <a:ext cx="2190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2500" lnSpcReduction="20000"/>
          </a:bodyPr>
          <a:lstStyle/>
          <a:p>
            <a:pPr>
              <a:defRPr sz="1200" b="0">
                <a:solidFill>
                  <a:srgbClr val="36C7E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6C7E6"/>
                </a:solidFill>
                <a:latin typeface="Aptos"/>
                <a:ea typeface="Aptos"/>
                <a:cs typeface="Aptos"/>
              </a:rPr>
              <a:t>Two-member team</a:t>
            </a:r>
          </a:p>
        </p:txBody>
      </p:sp>
    </p:spTree>
    <p:extLst>
      <p:ext uri="{BB962C8B-B14F-4D97-AF65-F5344CB8AC3E}">
        <p14:creationId xmlns:p14="http://schemas.microsoft.com/office/powerpoint/2010/main" val="166882729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622</Words>
  <Application>Microsoft Office PowerPoint</Application>
  <DocSecurity>0</DocSecurity>
  <PresentationFormat>Widescreen</PresentationFormat>
  <Paragraphs>130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Aptos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Vidya Jha</cp:lastModifiedBy>
  <cp:revision>1</cp:revision>
  <dcterms:created xsi:type="dcterms:W3CDTF">2026-09-14T06:08:31Z</dcterms:created>
  <dcterms:modified xsi:type="dcterms:W3CDTF">2026-09-14T06:20:52Z</dcterms:modified>
</cp:coreProperties>
</file>